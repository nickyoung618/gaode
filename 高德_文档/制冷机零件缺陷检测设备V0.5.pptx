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81" r:id="rId2"/>
    <p:sldId id="355" r:id="rId3"/>
    <p:sldId id="425" r:id="rId4"/>
    <p:sldId id="434" r:id="rId5"/>
    <p:sldId id="433" r:id="rId6"/>
    <p:sldId id="426" r:id="rId7"/>
    <p:sldId id="427" r:id="rId8"/>
    <p:sldId id="431" r:id="rId9"/>
    <p:sldId id="428" r:id="rId10"/>
    <p:sldId id="429" r:id="rId11"/>
    <p:sldId id="430" r:id="rId12"/>
    <p:sldId id="432" r:id="rId13"/>
    <p:sldId id="306" r:id="rId14"/>
  </p:sldIdLst>
  <p:sldSz cx="18288000" cy="10287000"/>
  <p:notesSz cx="6858000" cy="9144000"/>
  <p:embeddedFontLst>
    <p:embeddedFont>
      <p:font typeface="Calibri" panose="020F0502020204030204" pitchFamily="34" charset="0"/>
      <p:regular r:id="rId16"/>
      <p:bold r:id="rId17"/>
      <p:italic r:id="rId18"/>
      <p:boldItalic r:id="rId19"/>
    </p:embeddedFont>
    <p:embeddedFont>
      <p:font typeface="Nirmala UI Semilight" panose="020B0402040204020203" pitchFamily="34" charset="0"/>
      <p:regular r:id="rId20"/>
    </p:embeddedFont>
    <p:embeddedFont>
      <p:font typeface="等线" panose="02010600030101010101" pitchFamily="2" charset="-122"/>
      <p:regular r:id="rId21"/>
      <p:bold r:id="rId22"/>
    </p:embeddedFont>
    <p:embeddedFont>
      <p:font typeface="黑体" panose="02010609060101010101" pitchFamily="49" charset="-122"/>
      <p:regular r:id="rId23"/>
    </p:embeddedFont>
    <p:embeddedFont>
      <p:font typeface="微软雅黑" panose="020B0503020204020204" pitchFamily="34" charset="-122"/>
      <p:regular r:id="rId24"/>
      <p:bold r:id="rId25"/>
    </p:embeddedFont>
  </p:embeddedFontLst>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p15:clr>
            <a:srgbClr val="A4A3A4"/>
          </p15:clr>
        </p15:guide>
        <p15:guide id="2" pos="293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3CDFB"/>
    <a:srgbClr val="1F14B2"/>
    <a:srgbClr val="D60011"/>
    <a:srgbClr val="558ED5"/>
    <a:srgbClr val="133970"/>
    <a:srgbClr val="004B84"/>
    <a:srgbClr val="143B72"/>
    <a:srgbClr val="114B82"/>
    <a:srgbClr val="1C2D5D"/>
    <a:srgbClr val="E6EB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69" d="100"/>
          <a:sy n="69" d="100"/>
        </p:scale>
        <p:origin x="834" y="204"/>
      </p:cViewPr>
      <p:guideLst>
        <p:guide orient="horz" pos="2184"/>
        <p:guide pos="293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4/17/2026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a:t> </a:t>
            </a:r>
          </a:p>
        </p:txBody>
      </p:sp>
      <p:sp>
        <p:nvSpPr>
          <p:cNvPr id="6" name="内容占位符 5"/>
          <p:cNvSpPr>
            <a:spLocks noGrp="1"/>
          </p:cNvSpPr>
          <p:nvPr>
            <p:ph idx="1"/>
          </p:nvPr>
        </p:nvSpPr>
        <p:spPr/>
        <p:txBody>
          <a:bodyPr/>
          <a:lstStyle/>
          <a:p>
            <a:endParaRPr lang="zh-CN" altLang="en-US"/>
          </a:p>
        </p:txBody>
      </p:sp>
      <p:pic>
        <p:nvPicPr>
          <p:cNvPr id="24" name="图片 23" descr="19390 [转换]-01"/>
          <p:cNvPicPr>
            <a:picLocks noChangeAspect="1"/>
          </p:cNvPicPr>
          <p:nvPr/>
        </p:nvPicPr>
        <p:blipFill>
          <a:blip r:embed="rId4"/>
          <a:srcRect t="5711" b="12688"/>
          <a:stretch>
            <a:fillRect/>
          </a:stretch>
        </p:blipFill>
        <p:spPr>
          <a:xfrm>
            <a:off x="0" y="0"/>
            <a:ext cx="18287048" cy="8473440"/>
          </a:xfrm>
          <a:prstGeom prst="rect">
            <a:avLst/>
          </a:prstGeom>
        </p:spPr>
      </p:pic>
      <p:sp>
        <p:nvSpPr>
          <p:cNvPr id="21" name="矩形 20"/>
          <p:cNvSpPr/>
          <p:nvPr/>
        </p:nvSpPr>
        <p:spPr>
          <a:xfrm>
            <a:off x="-19685" y="38100"/>
            <a:ext cx="18307050" cy="8358188"/>
          </a:xfrm>
          <a:prstGeom prst="rect">
            <a:avLst/>
          </a:prstGeom>
          <a:solidFill>
            <a:srgbClr val="114B82">
              <a:alpha val="78000"/>
            </a:srgb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p>
        </p:txBody>
      </p:sp>
      <p:sp>
        <p:nvSpPr>
          <p:cNvPr id="8" name="文本框 7"/>
          <p:cNvSpPr txBox="1"/>
          <p:nvPr/>
        </p:nvSpPr>
        <p:spPr>
          <a:xfrm>
            <a:off x="2567305" y="2552700"/>
            <a:ext cx="13153390" cy="3837589"/>
          </a:xfrm>
          <a:prstGeom prst="rect">
            <a:avLst/>
          </a:prstGeom>
          <a:noFill/>
        </p:spPr>
        <p:txBody>
          <a:bodyPr wrap="square" rtlCol="0">
            <a:spAutoFit/>
          </a:bodyPr>
          <a:lstStyle/>
          <a:p>
            <a:pPr algn="ctr">
              <a:lnSpc>
                <a:spcPct val="150000"/>
              </a:lnSpc>
            </a:pPr>
            <a:r>
              <a:rPr lang="zh-CN" altLang="en-US" sz="8800" b="1" kern="2000" dirty="0">
                <a:solidFill>
                  <a:schemeClr val="bg1"/>
                </a:solidFill>
                <a:latin typeface="黑体" panose="02010609060101010101" charset="-122"/>
                <a:ea typeface="黑体" panose="02010609060101010101" charset="-122"/>
                <a:cs typeface="黑体" panose="02010609060101010101" charset="-122"/>
              </a:rPr>
              <a:t>制冷机零件缺陷检测系统解决方案</a:t>
            </a:r>
          </a:p>
        </p:txBody>
      </p:sp>
      <p:sp>
        <p:nvSpPr>
          <p:cNvPr id="22" name="矩形 21"/>
          <p:cNvSpPr/>
          <p:nvPr/>
        </p:nvSpPr>
        <p:spPr>
          <a:xfrm>
            <a:off x="-108585" y="8358188"/>
            <a:ext cx="18491835" cy="114300"/>
          </a:xfrm>
          <a:prstGeom prst="rect">
            <a:avLst/>
          </a:prstGeom>
          <a:solidFill>
            <a:srgbClr val="D6001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p>
        </p:txBody>
      </p:sp>
      <p:sp>
        <p:nvSpPr>
          <p:cNvPr id="18" name="文本框 17"/>
          <p:cNvSpPr txBox="1"/>
          <p:nvPr/>
        </p:nvSpPr>
        <p:spPr>
          <a:xfrm>
            <a:off x="12918758" y="9064943"/>
            <a:ext cx="5368290" cy="737235"/>
          </a:xfrm>
          <a:prstGeom prst="rect">
            <a:avLst/>
          </a:prstGeom>
          <a:noFill/>
        </p:spPr>
        <p:txBody>
          <a:bodyPr wrap="square">
            <a:spAutoFit/>
          </a:bodyPr>
          <a:lstStyle/>
          <a:p>
            <a:r>
              <a:rPr kumimoji="0" lang="zh-CN" altLang="en-US" sz="4200" b="1" i="0" u="none" strike="noStrike" kern="1200" cap="none" spc="0" normalizeH="0" baseline="0" noProof="0" dirty="0">
                <a:ln>
                  <a:noFill/>
                </a:ln>
                <a:solidFill>
                  <a:srgbClr val="114B82"/>
                </a:solidFill>
                <a:effectLst/>
                <a:uLnTx/>
                <a:uFillTx/>
                <a:latin typeface="微软雅黑" panose="020B0503020204020204" charset="-122"/>
                <a:ea typeface="微软雅黑" panose="020B0503020204020204" charset="-122"/>
                <a:cs typeface="微软雅黑" panose="020B0503020204020204" charset="-122"/>
              </a:rPr>
              <a:t>披荆斩棘     逐光而行</a:t>
            </a:r>
          </a:p>
        </p:txBody>
      </p:sp>
      <p:pic>
        <p:nvPicPr>
          <p:cNvPr id="44" name="图片 43" descr="资源 2ldpi"/>
          <p:cNvPicPr>
            <a:picLocks noChangeAspect="1"/>
          </p:cNvPicPr>
          <p:nvPr/>
        </p:nvPicPr>
        <p:blipFill>
          <a:blip r:embed="rId5"/>
          <a:srcRect l="5628"/>
          <a:stretch>
            <a:fillRect/>
          </a:stretch>
        </p:blipFill>
        <p:spPr>
          <a:xfrm>
            <a:off x="317" y="5652135"/>
            <a:ext cx="18288318" cy="2693035"/>
          </a:xfrm>
          <a:prstGeom prst="rect">
            <a:avLst/>
          </a:prstGeom>
        </p:spPr>
      </p:pic>
      <p:pic>
        <p:nvPicPr>
          <p:cNvPr id="7" name="图片 6" descr="资源 11xxxhdpi"/>
          <p:cNvPicPr>
            <a:picLocks noChangeAspect="1"/>
          </p:cNvPicPr>
          <p:nvPr/>
        </p:nvPicPr>
        <p:blipFill>
          <a:blip r:embed="rId6"/>
          <a:stretch>
            <a:fillRect/>
          </a:stretch>
        </p:blipFill>
        <p:spPr>
          <a:xfrm>
            <a:off x="16279495" y="114300"/>
            <a:ext cx="1963420" cy="476885"/>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资源 12xxxhdpi"/>
          <p:cNvPicPr>
            <a:picLocks noChangeAspect="1"/>
          </p:cNvPicPr>
          <p:nvPr/>
        </p:nvPicPr>
        <p:blipFill>
          <a:blip r:embed="rId2"/>
          <a:stretch>
            <a:fillRect/>
          </a:stretch>
        </p:blipFill>
        <p:spPr>
          <a:xfrm>
            <a:off x="16306800" y="114300"/>
            <a:ext cx="1841500" cy="467360"/>
          </a:xfrm>
          <a:prstGeom prst="rect">
            <a:avLst/>
          </a:prstGeom>
        </p:spPr>
      </p:pic>
      <p:sp>
        <p:nvSpPr>
          <p:cNvPr id="21" name="矩形 20"/>
          <p:cNvSpPr/>
          <p:nvPr/>
        </p:nvSpPr>
        <p:spPr>
          <a:xfrm>
            <a:off x="0" y="9898380"/>
            <a:ext cx="18288000" cy="380365"/>
          </a:xfrm>
          <a:prstGeom prst="rect">
            <a:avLst/>
          </a:prstGeom>
          <a:solidFill>
            <a:srgbClr val="114B82">
              <a:alpha val="78000"/>
            </a:srgb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p>
        </p:txBody>
      </p:sp>
      <p:sp>
        <p:nvSpPr>
          <p:cNvPr id="22" name="矩形 21"/>
          <p:cNvSpPr/>
          <p:nvPr/>
        </p:nvSpPr>
        <p:spPr>
          <a:xfrm flipV="1">
            <a:off x="7759700" y="-5080"/>
            <a:ext cx="10546715" cy="119380"/>
          </a:xfrm>
          <a:prstGeom prst="rect">
            <a:avLst/>
          </a:prstGeom>
          <a:solidFill>
            <a:srgbClr val="D6001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p>
        </p:txBody>
      </p:sp>
      <p:grpSp>
        <p:nvGrpSpPr>
          <p:cNvPr id="6" name="Group 2"/>
          <p:cNvGrpSpPr/>
          <p:nvPr/>
        </p:nvGrpSpPr>
        <p:grpSpPr>
          <a:xfrm>
            <a:off x="2743201" y="596265"/>
            <a:ext cx="4191000" cy="959485"/>
            <a:chOff x="0" y="0"/>
            <a:chExt cx="5868000" cy="1279444"/>
          </a:xfrm>
          <a:solidFill>
            <a:srgbClr val="133970"/>
          </a:solidFill>
        </p:grpSpPr>
        <p:sp>
          <p:nvSpPr>
            <p:cNvPr id="8" name="Freeform 3"/>
            <p:cNvSpPr/>
            <p:nvPr/>
          </p:nvSpPr>
          <p:spPr>
            <a:xfrm>
              <a:off x="0" y="0"/>
              <a:ext cx="5868035" cy="1279398"/>
            </a:xfrm>
            <a:custGeom>
              <a:avLst/>
              <a:gdLst/>
              <a:ahLst/>
              <a:cxnLst/>
              <a:rect l="l" t="t" r="r" b="b"/>
              <a:pathLst>
                <a:path w="5868035" h="1279398">
                  <a:moveTo>
                    <a:pt x="0" y="0"/>
                  </a:moveTo>
                  <a:lnTo>
                    <a:pt x="5868035" y="0"/>
                  </a:lnTo>
                  <a:lnTo>
                    <a:pt x="5868035" y="1279398"/>
                  </a:lnTo>
                  <a:lnTo>
                    <a:pt x="0" y="1279398"/>
                  </a:lnTo>
                  <a:close/>
                </a:path>
              </a:pathLst>
            </a:custGeom>
            <a:grpFill/>
          </p:spPr>
          <p:txBody>
            <a:bodyPr/>
            <a:lstStyle/>
            <a:p>
              <a:endParaRPr lang="zh-CN" altLang="en-US" dirty="0"/>
            </a:p>
          </p:txBody>
        </p:sp>
      </p:grpSp>
      <p:sp>
        <p:nvSpPr>
          <p:cNvPr id="9" name="TextBox 4"/>
          <p:cNvSpPr txBox="1"/>
          <p:nvPr/>
        </p:nvSpPr>
        <p:spPr>
          <a:xfrm>
            <a:off x="2895601" y="800100"/>
            <a:ext cx="3124200" cy="589915"/>
          </a:xfrm>
          <a:prstGeom prst="rect">
            <a:avLst/>
          </a:prstGeom>
        </p:spPr>
        <p:txBody>
          <a:bodyPr wrap="square" lIns="0" tIns="0" rIns="0" bIns="0" rtlCol="0" anchor="t">
            <a:noAutofit/>
          </a:bodyPr>
          <a:lstStyle/>
          <a:p>
            <a:pPr algn="l">
              <a:lnSpc>
                <a:spcPts val="4320"/>
              </a:lnSpc>
            </a:pPr>
            <a:r>
              <a:rPr lang="zh-CN" altLang="en-US" sz="3600" dirty="0">
                <a:solidFill>
                  <a:schemeClr val="bg1"/>
                </a:solidFill>
                <a:latin typeface="微软雅黑" panose="020B0503020204020204" charset="-122"/>
                <a:ea typeface="微软雅黑" panose="020B0503020204020204" charset="-122"/>
                <a:sym typeface="+mn-ea"/>
              </a:rPr>
              <a:t>系统需求分析</a:t>
            </a:r>
            <a:endParaRPr lang="zh-CN" altLang="en-US" sz="3600" spc="194" dirty="0">
              <a:solidFill>
                <a:schemeClr val="bg1"/>
              </a:solidFill>
              <a:latin typeface="微软雅黑" panose="020B0503020204020204" charset="-122"/>
              <a:ea typeface="微软雅黑" panose="020B0503020204020204" charset="-122"/>
              <a:cs typeface="字由点字典黑 65J Bold" panose="00020600040101010101" charset="-122"/>
              <a:sym typeface="+mn-ea"/>
            </a:endParaRPr>
          </a:p>
        </p:txBody>
      </p:sp>
      <p:grpSp>
        <p:nvGrpSpPr>
          <p:cNvPr id="10" name="Group 26"/>
          <p:cNvGrpSpPr/>
          <p:nvPr/>
        </p:nvGrpSpPr>
        <p:grpSpPr>
          <a:xfrm>
            <a:off x="0" y="1378974"/>
            <a:ext cx="2452685" cy="176473"/>
            <a:chOff x="0" y="0"/>
            <a:chExt cx="2364602" cy="170135"/>
          </a:xfrm>
          <a:solidFill>
            <a:srgbClr val="133970"/>
          </a:solidFill>
        </p:grpSpPr>
        <p:sp>
          <p:nvSpPr>
            <p:cNvPr id="11" name="Freeform 27"/>
            <p:cNvSpPr/>
            <p:nvPr/>
          </p:nvSpPr>
          <p:spPr>
            <a:xfrm>
              <a:off x="0" y="0"/>
              <a:ext cx="2364621" cy="170129"/>
            </a:xfrm>
            <a:custGeom>
              <a:avLst/>
              <a:gdLst/>
              <a:ahLst/>
              <a:cxnLst/>
              <a:rect l="l" t="t" r="r" b="b"/>
              <a:pathLst>
                <a:path w="2364621" h="170129">
                  <a:moveTo>
                    <a:pt x="0" y="0"/>
                  </a:moveTo>
                  <a:lnTo>
                    <a:pt x="2364621" y="0"/>
                  </a:lnTo>
                  <a:lnTo>
                    <a:pt x="2364621" y="170129"/>
                  </a:lnTo>
                  <a:lnTo>
                    <a:pt x="0" y="170129"/>
                  </a:lnTo>
                  <a:close/>
                </a:path>
              </a:pathLst>
            </a:custGeom>
            <a:grpFill/>
          </p:spPr>
        </p:sp>
      </p:grpSp>
      <p:sp>
        <p:nvSpPr>
          <p:cNvPr id="12" name="TextBox 35"/>
          <p:cNvSpPr txBox="1"/>
          <p:nvPr/>
        </p:nvSpPr>
        <p:spPr>
          <a:xfrm>
            <a:off x="970304" y="161962"/>
            <a:ext cx="1840527" cy="1563954"/>
          </a:xfrm>
          <a:prstGeom prst="rect">
            <a:avLst/>
          </a:prstGeom>
        </p:spPr>
        <p:txBody>
          <a:bodyPr lIns="0" tIns="0" rIns="0" bIns="0" rtlCol="0" anchor="t">
            <a:spAutoFit/>
          </a:bodyPr>
          <a:lstStyle/>
          <a:p>
            <a:pPr algn="l">
              <a:lnSpc>
                <a:spcPts val="12960"/>
              </a:lnSpc>
            </a:pPr>
            <a:r>
              <a:rPr lang="en-US" sz="10800" b="1" dirty="0">
                <a:solidFill>
                  <a:srgbClr val="000000"/>
                </a:solidFill>
                <a:latin typeface="Nirmala UI Semilight" panose="020B0402040204020203" charset="0"/>
                <a:ea typeface="Arimo Bold" panose="020B0704020202020204"/>
                <a:cs typeface="Nirmala UI Semilight" panose="020B0402040204020203" charset="0"/>
                <a:sym typeface="Arimo Bold" panose="020B0704020202020204"/>
              </a:rPr>
              <a:t>01</a:t>
            </a:r>
          </a:p>
        </p:txBody>
      </p:sp>
      <p:sp>
        <p:nvSpPr>
          <p:cNvPr id="13" name="文本框 12"/>
          <p:cNvSpPr txBox="1"/>
          <p:nvPr/>
        </p:nvSpPr>
        <p:spPr>
          <a:xfrm>
            <a:off x="1066800" y="2405493"/>
            <a:ext cx="8077200" cy="6986528"/>
          </a:xfrm>
          <a:prstGeom prst="rect">
            <a:avLst/>
          </a:prstGeom>
          <a:noFill/>
        </p:spPr>
        <p:txBody>
          <a:bodyPr wrap="square">
            <a:spAutoFit/>
          </a:bodyPr>
          <a:lstStyle/>
          <a:p>
            <a:r>
              <a:rPr lang="en-US" altLang="zh-CN" sz="2800" dirty="0">
                <a:solidFill>
                  <a:srgbClr val="24292F"/>
                </a:solidFill>
                <a:latin typeface="+mn-ea"/>
              </a:rPr>
              <a:t>    </a:t>
            </a:r>
            <a:r>
              <a:rPr lang="zh-CN" altLang="en-US" sz="2800" dirty="0">
                <a:solidFill>
                  <a:srgbClr val="24292F"/>
                </a:solidFill>
                <a:latin typeface="+mn-ea"/>
              </a:rPr>
              <a:t>制冷机零件缺陷智能检测设备，用于替代仍完成制冷机相关零件密封面</a:t>
            </a:r>
            <a:r>
              <a:rPr lang="en-US" altLang="zh-CN" sz="2800" dirty="0">
                <a:solidFill>
                  <a:srgbClr val="24292F"/>
                </a:solidFill>
                <a:latin typeface="+mn-ea"/>
              </a:rPr>
              <a:t>(</a:t>
            </a:r>
            <a:r>
              <a:rPr lang="zh-CN" altLang="en-US" sz="2800" dirty="0">
                <a:solidFill>
                  <a:srgbClr val="24292F"/>
                </a:solidFill>
                <a:latin typeface="+mn-ea"/>
              </a:rPr>
              <a:t>大底座、压缩端盖、转子外罩或电机外壳、杜瓦、冷指保护筒、阀钉、半成品</a:t>
            </a:r>
            <a:r>
              <a:rPr lang="en-US" altLang="zh-CN" sz="2800" dirty="0">
                <a:solidFill>
                  <a:srgbClr val="24292F"/>
                </a:solidFill>
                <a:latin typeface="+mn-ea"/>
              </a:rPr>
              <a:t>)</a:t>
            </a:r>
            <a:r>
              <a:rPr lang="zh-CN" altLang="en-US" sz="2800" dirty="0">
                <a:solidFill>
                  <a:srgbClr val="24292F"/>
                </a:solidFill>
                <a:latin typeface="+mn-ea"/>
              </a:rPr>
              <a:t>的缺陷进行识别及判定。</a:t>
            </a:r>
            <a:endParaRPr lang="en-US" altLang="zh-CN" sz="2800" dirty="0">
              <a:solidFill>
                <a:srgbClr val="24292F"/>
              </a:solidFill>
              <a:latin typeface="+mn-ea"/>
            </a:endParaRPr>
          </a:p>
          <a:p>
            <a:endParaRPr lang="en-US" altLang="zh-CN" sz="2800" dirty="0">
              <a:solidFill>
                <a:srgbClr val="24292F"/>
              </a:solidFill>
              <a:latin typeface="+mn-ea"/>
            </a:endParaRPr>
          </a:p>
          <a:p>
            <a:endParaRPr lang="en-US" altLang="zh-CN" sz="2800" dirty="0">
              <a:solidFill>
                <a:srgbClr val="24292F"/>
              </a:solidFill>
              <a:latin typeface="+mn-ea"/>
            </a:endParaRPr>
          </a:p>
          <a:p>
            <a:r>
              <a:rPr lang="zh-CN" altLang="en-US" sz="2800" dirty="0">
                <a:solidFill>
                  <a:srgbClr val="24292F"/>
                </a:solidFill>
                <a:latin typeface="+mn-ea"/>
              </a:rPr>
              <a:t>详细见附件 </a:t>
            </a:r>
            <a:r>
              <a:rPr lang="en-US" altLang="zh-CN" sz="2800" dirty="0">
                <a:solidFill>
                  <a:srgbClr val="24292F"/>
                </a:solidFill>
                <a:latin typeface="+mn-ea"/>
              </a:rPr>
              <a:t>1《</a:t>
            </a:r>
            <a:r>
              <a:rPr lang="zh-CN" altLang="en-US" sz="2800" dirty="0">
                <a:solidFill>
                  <a:srgbClr val="24292F"/>
                </a:solidFill>
                <a:latin typeface="+mn-ea"/>
              </a:rPr>
              <a:t>检测场景及零件整理</a:t>
            </a:r>
            <a:r>
              <a:rPr lang="en-US" altLang="zh-CN" sz="2800" dirty="0">
                <a:solidFill>
                  <a:srgbClr val="24292F"/>
                </a:solidFill>
                <a:latin typeface="+mn-ea"/>
              </a:rPr>
              <a:t>(20260313)》</a:t>
            </a:r>
            <a:r>
              <a:rPr lang="zh-CN" altLang="en-US" sz="2800" dirty="0">
                <a:solidFill>
                  <a:srgbClr val="24292F"/>
                </a:solidFill>
                <a:latin typeface="+mn-ea"/>
              </a:rPr>
              <a:t>含零件尺寸、零件类型、检测面以及现有检测场景；</a:t>
            </a:r>
            <a:endParaRPr lang="en-US" altLang="zh-CN" sz="2800" dirty="0">
              <a:solidFill>
                <a:srgbClr val="24292F"/>
              </a:solidFill>
              <a:latin typeface="+mn-ea"/>
            </a:endParaRPr>
          </a:p>
          <a:p>
            <a:endParaRPr lang="en-US" altLang="zh-CN" sz="2800" dirty="0">
              <a:solidFill>
                <a:srgbClr val="24292F"/>
              </a:solidFill>
              <a:latin typeface="+mn-ea"/>
            </a:endParaRPr>
          </a:p>
          <a:p>
            <a:endParaRPr lang="en-US" altLang="zh-CN" sz="2800" dirty="0">
              <a:solidFill>
                <a:srgbClr val="24292F"/>
              </a:solidFill>
              <a:latin typeface="+mn-ea"/>
            </a:endParaRPr>
          </a:p>
          <a:p>
            <a:endParaRPr lang="en-US" altLang="zh-CN" sz="2800" dirty="0">
              <a:solidFill>
                <a:srgbClr val="24292F"/>
              </a:solidFill>
              <a:latin typeface="+mn-ea"/>
            </a:endParaRPr>
          </a:p>
          <a:p>
            <a:r>
              <a:rPr lang="zh-CN" altLang="en-US" sz="2800" dirty="0">
                <a:solidFill>
                  <a:srgbClr val="24292F"/>
                </a:solidFill>
                <a:latin typeface="+mn-ea"/>
              </a:rPr>
              <a:t>◦软件算法范围：缺陷检测算法、缺陷分类算法、图像预处理算法、数据存储与分析模块、人机交互界面（</a:t>
            </a:r>
            <a:r>
              <a:rPr lang="en-US" altLang="zh-CN" sz="2800" dirty="0">
                <a:solidFill>
                  <a:srgbClr val="24292F"/>
                </a:solidFill>
                <a:latin typeface="+mn-ea"/>
              </a:rPr>
              <a:t>HMI</a:t>
            </a:r>
            <a:r>
              <a:rPr lang="zh-CN" altLang="en-US" sz="2800" dirty="0">
                <a:solidFill>
                  <a:srgbClr val="24292F"/>
                </a:solidFill>
                <a:latin typeface="+mn-ea"/>
              </a:rPr>
              <a:t>）开发、与现有生产线 </a:t>
            </a:r>
            <a:r>
              <a:rPr lang="en-US" altLang="zh-CN" sz="2800" dirty="0">
                <a:solidFill>
                  <a:srgbClr val="24292F"/>
                </a:solidFill>
                <a:latin typeface="+mn-ea"/>
              </a:rPr>
              <a:t>PLC/MES </a:t>
            </a:r>
            <a:r>
              <a:rPr lang="zh-CN" altLang="en-US" sz="2800" dirty="0">
                <a:solidFill>
                  <a:srgbClr val="24292F"/>
                </a:solidFill>
                <a:latin typeface="+mn-ea"/>
              </a:rPr>
              <a:t>系统接口开发、离线</a:t>
            </a:r>
            <a:r>
              <a:rPr lang="en-US" altLang="zh-CN" sz="2800" dirty="0">
                <a:solidFill>
                  <a:srgbClr val="24292F"/>
                </a:solidFill>
                <a:latin typeface="+mn-ea"/>
              </a:rPr>
              <a:t>AI</a:t>
            </a:r>
            <a:r>
              <a:rPr lang="zh-CN" altLang="en-US" sz="2800" dirty="0">
                <a:solidFill>
                  <a:srgbClr val="24292F"/>
                </a:solidFill>
                <a:latin typeface="+mn-ea"/>
              </a:rPr>
              <a:t>训练标注软件（可集成在整体软件系统内也可单独工具包形式）。</a:t>
            </a:r>
          </a:p>
        </p:txBody>
      </p:sp>
      <p:sp>
        <p:nvSpPr>
          <p:cNvPr id="30" name="文本框 29"/>
          <p:cNvSpPr txBox="1"/>
          <p:nvPr/>
        </p:nvSpPr>
        <p:spPr>
          <a:xfrm>
            <a:off x="12025842" y="8953500"/>
            <a:ext cx="3278505" cy="369332"/>
          </a:xfrm>
          <a:prstGeom prst="rect">
            <a:avLst/>
          </a:prstGeom>
          <a:noFill/>
        </p:spPr>
        <p:txBody>
          <a:bodyPr wrap="square" rtlCol="0" anchor="t">
            <a:spAutoFit/>
          </a:bodyPr>
          <a:lstStyle/>
          <a:p>
            <a:pPr algn="ctr"/>
            <a:r>
              <a:rPr lang="zh-CN" altLang="en-US" dirty="0"/>
              <a:t>样品</a:t>
            </a:r>
          </a:p>
        </p:txBody>
      </p:sp>
      <p:pic>
        <p:nvPicPr>
          <p:cNvPr id="4" name="图片 3">
            <a:extLst>
              <a:ext uri="{FF2B5EF4-FFF2-40B4-BE49-F238E27FC236}">
                <a16:creationId xmlns:a16="http://schemas.microsoft.com/office/drawing/2014/main" id="{C7CCB97D-B08A-4CD7-A9B6-74A4236150D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10798" y="5023277"/>
            <a:ext cx="6908591" cy="3901322"/>
          </a:xfrm>
          <a:prstGeom prst="rect">
            <a:avLst/>
          </a:prstGeom>
        </p:spPr>
      </p:pic>
      <p:pic>
        <p:nvPicPr>
          <p:cNvPr id="14" name="图片 13">
            <a:extLst>
              <a:ext uri="{FF2B5EF4-FFF2-40B4-BE49-F238E27FC236}">
                <a16:creationId xmlns:a16="http://schemas.microsoft.com/office/drawing/2014/main" id="{FA270B5A-F3A8-476A-A2DF-6663F74D4B8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10798" y="943939"/>
            <a:ext cx="6908592" cy="390132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资源 12xxxhdpi"/>
          <p:cNvPicPr>
            <a:picLocks noChangeAspect="1"/>
          </p:cNvPicPr>
          <p:nvPr/>
        </p:nvPicPr>
        <p:blipFill>
          <a:blip r:embed="rId2"/>
          <a:stretch>
            <a:fillRect/>
          </a:stretch>
        </p:blipFill>
        <p:spPr>
          <a:xfrm>
            <a:off x="16306800" y="114300"/>
            <a:ext cx="1841500" cy="467360"/>
          </a:xfrm>
          <a:prstGeom prst="rect">
            <a:avLst/>
          </a:prstGeom>
        </p:spPr>
      </p:pic>
      <p:sp>
        <p:nvSpPr>
          <p:cNvPr id="21" name="矩形 20"/>
          <p:cNvSpPr/>
          <p:nvPr/>
        </p:nvSpPr>
        <p:spPr>
          <a:xfrm>
            <a:off x="0" y="9898380"/>
            <a:ext cx="18288000" cy="380365"/>
          </a:xfrm>
          <a:prstGeom prst="rect">
            <a:avLst/>
          </a:prstGeom>
          <a:solidFill>
            <a:srgbClr val="114B82">
              <a:alpha val="78000"/>
            </a:srgb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latin typeface="Times New Roman" panose="02020603050405020304" charset="0"/>
              <a:cs typeface="Times New Roman" panose="02020603050405020304" charset="0"/>
            </a:endParaRPr>
          </a:p>
        </p:txBody>
      </p:sp>
      <p:sp>
        <p:nvSpPr>
          <p:cNvPr id="22" name="矩形 21"/>
          <p:cNvSpPr/>
          <p:nvPr/>
        </p:nvSpPr>
        <p:spPr>
          <a:xfrm flipV="1">
            <a:off x="7759700" y="-5080"/>
            <a:ext cx="10546715" cy="119380"/>
          </a:xfrm>
          <a:prstGeom prst="rect">
            <a:avLst/>
          </a:prstGeom>
          <a:solidFill>
            <a:srgbClr val="D6001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latin typeface="Times New Roman" panose="02020603050405020304" charset="0"/>
              <a:cs typeface="Times New Roman" panose="02020603050405020304" charset="0"/>
            </a:endParaRPr>
          </a:p>
        </p:txBody>
      </p:sp>
      <p:sp>
        <p:nvSpPr>
          <p:cNvPr id="17" name="文本框 16">
            <a:extLst>
              <a:ext uri="{FF2B5EF4-FFF2-40B4-BE49-F238E27FC236}">
                <a16:creationId xmlns:a16="http://schemas.microsoft.com/office/drawing/2014/main" id="{F9312E69-C250-4274-AEF4-A3DE77355C86}"/>
              </a:ext>
            </a:extLst>
          </p:cNvPr>
          <p:cNvSpPr txBox="1"/>
          <p:nvPr/>
        </p:nvSpPr>
        <p:spPr>
          <a:xfrm>
            <a:off x="844550" y="1585734"/>
            <a:ext cx="16383000" cy="8586966"/>
          </a:xfrm>
          <a:prstGeom prst="rect">
            <a:avLst/>
          </a:prstGeom>
          <a:noFill/>
        </p:spPr>
        <p:txBody>
          <a:bodyPr wrap="square">
            <a:spAutoFit/>
          </a:bodyPr>
          <a:lstStyle/>
          <a:p>
            <a:pPr marR="0" lvl="0" algn="just">
              <a:spcBef>
                <a:spcPts val="0"/>
              </a:spcBef>
              <a:spcAft>
                <a:spcPts val="0"/>
              </a:spcAft>
            </a:pPr>
            <a:r>
              <a:rPr lang="en-US" altLang="zh-CN" sz="2250" kern="100" dirty="0">
                <a:effectLst/>
                <a:latin typeface="宋体" panose="02010600030101010101" pitchFamily="2" charset="-122"/>
                <a:ea typeface="宋体" panose="02010600030101010101" pitchFamily="2" charset="-122"/>
                <a:cs typeface="Times New Roman" panose="02020603050405020304" pitchFamily="18" charset="0"/>
              </a:rPr>
              <a:t>1.</a:t>
            </a: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设备检测物料及检测场景：</a:t>
            </a:r>
            <a:endParaRPr lang="zh-CN" altLang="en-US" sz="225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just">
              <a:spcBef>
                <a:spcPts val="0"/>
              </a:spcBef>
              <a:spcAft>
                <a:spcPts val="0"/>
              </a:spcAft>
              <a:buFont typeface="Times New Roman" panose="02020603050405020304" pitchFamily="18" charset="0"/>
              <a:buAutoNum type="arabicParenR"/>
            </a:pP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物料：制冷机相关的密封零件，包含：大底座、端盖、外罩等零件。</a:t>
            </a:r>
            <a:endParaRPr lang="zh-CN" altLang="en-US" sz="225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just">
              <a:spcBef>
                <a:spcPts val="0"/>
              </a:spcBef>
              <a:spcAft>
                <a:spcPts val="0"/>
              </a:spcAft>
              <a:buFont typeface="Times New Roman" panose="02020603050405020304" pitchFamily="18" charset="0"/>
              <a:buAutoNum type="arabicParenR"/>
            </a:pP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检测场景：</a:t>
            </a:r>
            <a:endParaRPr lang="zh-CN" altLang="en-US" sz="2250" kern="100" dirty="0">
              <a:effectLst/>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gn="l">
              <a:spcBef>
                <a:spcPts val="0"/>
              </a:spcBef>
              <a:spcAft>
                <a:spcPts val="0"/>
              </a:spcAft>
              <a:buFont typeface="Times New Roman" panose="02020603050405020304" pitchFamily="18" charset="0"/>
              <a:buAutoNum type="alphaLcParenR"/>
            </a:pP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来料检：待检物料均为同一种物料，不记录物料编码；</a:t>
            </a:r>
            <a:endParaRPr lang="zh-CN" altLang="en-US" sz="2250" kern="100" dirty="0">
              <a:effectLst/>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gn="l">
              <a:spcBef>
                <a:spcPts val="0"/>
              </a:spcBef>
              <a:spcAft>
                <a:spcPts val="0"/>
              </a:spcAft>
              <a:buFont typeface="Times New Roman" panose="02020603050405020304" pitchFamily="18" charset="0"/>
              <a:buAutoNum type="alphaLcParenR"/>
            </a:pP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装配前检测：待检物料为</a:t>
            </a:r>
            <a:r>
              <a:rPr lang="en-US" altLang="zh-CN" sz="2250" kern="100" dirty="0">
                <a:effectLst/>
                <a:latin typeface="Calibri" panose="020F0502020204030204" pitchFamily="34" charset="0"/>
                <a:ea typeface="宋体" panose="02010600030101010101" pitchFamily="2" charset="-122"/>
                <a:cs typeface="Times New Roman" panose="02020603050405020304" pitchFamily="18" charset="0"/>
              </a:rPr>
              <a:t>3-4</a:t>
            </a: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种物料已经成组配置（物料装配或未完成装配），需要扫描识别其中</a:t>
            </a:r>
            <a:r>
              <a:rPr lang="en-US" altLang="zh-CN" sz="225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种物料编码（二维码）。</a:t>
            </a:r>
            <a:endParaRPr lang="zh-CN" altLang="en-US" sz="2250" kern="100" dirty="0">
              <a:effectLst/>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gn="l">
              <a:spcBef>
                <a:spcPts val="0"/>
              </a:spcBef>
              <a:spcAft>
                <a:spcPts val="0"/>
              </a:spcAft>
              <a:buFont typeface="Times New Roman" panose="02020603050405020304" pitchFamily="18" charset="0"/>
              <a:buAutoNum type="alphaLcParenR"/>
            </a:pP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半成品检测：半成品及配套组装物料已经成组配置，需要扫描识别其中</a:t>
            </a:r>
            <a:r>
              <a:rPr lang="en-US" altLang="zh-CN" sz="225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种物料编码（二维码）。</a:t>
            </a:r>
            <a:endParaRPr lang="zh-CN" altLang="en-US" sz="2250" kern="100" dirty="0">
              <a:effectLst/>
              <a:latin typeface="Calibri" panose="020F0502020204030204" pitchFamily="34" charset="0"/>
              <a:ea typeface="宋体" panose="02010600030101010101" pitchFamily="2" charset="-122"/>
              <a:cs typeface="Times New Roman" panose="02020603050405020304" pitchFamily="18" charset="0"/>
            </a:endParaRPr>
          </a:p>
          <a:p>
            <a:pPr marL="495300" marR="0" indent="0" algn="just">
              <a:spcBef>
                <a:spcPts val="0"/>
              </a:spcBef>
              <a:spcAft>
                <a:spcPts val="0"/>
              </a:spcAft>
            </a:pP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物料种类及场景分布，详见附件。</a:t>
            </a:r>
            <a:endParaRPr lang="zh-CN" altLang="en-US" sz="2250" kern="100" dirty="0">
              <a:effectLst/>
              <a:latin typeface="Calibri" panose="020F0502020204030204" pitchFamily="34" charset="0"/>
              <a:ea typeface="宋体" panose="02010600030101010101" pitchFamily="2" charset="-122"/>
              <a:cs typeface="Times New Roman" panose="02020603050405020304" pitchFamily="18" charset="0"/>
            </a:endParaRPr>
          </a:p>
          <a:p>
            <a:pPr marR="0" lvl="0" algn="just">
              <a:spcBef>
                <a:spcPts val="0"/>
              </a:spcBef>
              <a:spcAft>
                <a:spcPts val="0"/>
              </a:spcAft>
            </a:pPr>
            <a:r>
              <a:rPr lang="en-US" altLang="zh-CN" sz="2250" kern="100" dirty="0">
                <a:effectLst/>
                <a:latin typeface="宋体" panose="02010600030101010101" pitchFamily="2" charset="-122"/>
                <a:ea typeface="宋体" panose="02010600030101010101" pitchFamily="2" charset="-122"/>
                <a:cs typeface="Times New Roman" panose="02020603050405020304" pitchFamily="18" charset="0"/>
              </a:rPr>
              <a:t>2.</a:t>
            </a: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检测精度：最小识别点</a:t>
            </a:r>
            <a:r>
              <a:rPr lang="en-US" altLang="zh-CN" sz="2250" kern="100" dirty="0">
                <a:effectLst/>
                <a:latin typeface="Calibri" panose="020F0502020204030204" pitchFamily="34" charset="0"/>
                <a:ea typeface="宋体" panose="02010600030101010101" pitchFamily="2" charset="-122"/>
                <a:cs typeface="Times New Roman" panose="02020603050405020304" pitchFamily="18" charset="0"/>
              </a:rPr>
              <a:t>0.01mm</a:t>
            </a: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a:t>
            </a:r>
            <a:endParaRPr lang="zh-CN" altLang="en-US" sz="2250" kern="100" dirty="0">
              <a:effectLst/>
              <a:latin typeface="Calibri" panose="020F0502020204030204" pitchFamily="34" charset="0"/>
              <a:ea typeface="宋体" panose="02010600030101010101" pitchFamily="2" charset="-122"/>
              <a:cs typeface="Times New Roman" panose="02020603050405020304" pitchFamily="18" charset="0"/>
            </a:endParaRPr>
          </a:p>
          <a:p>
            <a:pPr marR="0" lvl="0" algn="just">
              <a:spcBef>
                <a:spcPts val="0"/>
              </a:spcBef>
              <a:spcAft>
                <a:spcPts val="0"/>
              </a:spcAft>
            </a:pPr>
            <a:r>
              <a:rPr lang="en-US" altLang="zh-CN" sz="2250" kern="100" dirty="0">
                <a:effectLst/>
                <a:latin typeface="宋体" panose="02010600030101010101" pitchFamily="2" charset="-122"/>
                <a:ea typeface="宋体" panose="02010600030101010101" pitchFamily="2" charset="-122"/>
                <a:cs typeface="Times New Roman" panose="02020603050405020304" pitchFamily="18" charset="0"/>
              </a:rPr>
              <a:t>3.</a:t>
            </a: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检测精度要求：</a:t>
            </a:r>
            <a:endParaRPr lang="zh-CN" altLang="en-US" sz="2250"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gn="just">
              <a:spcBef>
                <a:spcPts val="0"/>
              </a:spcBef>
              <a:spcAft>
                <a:spcPts val="0"/>
              </a:spcAft>
              <a:buFont typeface="Times New Roman" panose="02020603050405020304" pitchFamily="18" charset="0"/>
              <a:buAutoNum type="circleNumDbPlain"/>
            </a:pP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点状凹坑：直径≥</a:t>
            </a:r>
            <a:r>
              <a:rPr lang="en-US" altLang="zh-CN" sz="2250" kern="100" dirty="0">
                <a:effectLst/>
                <a:latin typeface="Calibri" panose="020F0502020204030204" pitchFamily="34" charset="0"/>
                <a:ea typeface="宋体" panose="02010600030101010101" pitchFamily="2" charset="-122"/>
                <a:cs typeface="Times New Roman" panose="02020603050405020304" pitchFamily="18" charset="0"/>
              </a:rPr>
              <a:t>0.1mm</a:t>
            </a: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，不合格；</a:t>
            </a:r>
            <a:endParaRPr lang="zh-CN" altLang="en-US" sz="2250"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gn="just">
              <a:spcBef>
                <a:spcPts val="0"/>
              </a:spcBef>
              <a:spcAft>
                <a:spcPts val="0"/>
              </a:spcAft>
              <a:buFont typeface="Times New Roman" panose="02020603050405020304" pitchFamily="18" charset="0"/>
              <a:buAutoNum type="circleNumDbPlain"/>
            </a:pP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划伤：联系点状相连成线，长度≥</a:t>
            </a:r>
            <a:r>
              <a:rPr lang="en-US" altLang="zh-CN" sz="2250" kern="100" dirty="0">
                <a:effectLst/>
                <a:latin typeface="Calibri" panose="020F0502020204030204" pitchFamily="34" charset="0"/>
                <a:ea typeface="宋体" panose="02010600030101010101" pitchFamily="2" charset="-122"/>
                <a:cs typeface="Times New Roman" panose="02020603050405020304" pitchFamily="18" charset="0"/>
              </a:rPr>
              <a:t>0.2mm</a:t>
            </a: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，不合格；</a:t>
            </a:r>
            <a:endParaRPr lang="zh-CN" altLang="en-US" sz="2250"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gn="just">
              <a:spcBef>
                <a:spcPts val="0"/>
              </a:spcBef>
              <a:spcAft>
                <a:spcPts val="0"/>
              </a:spcAft>
              <a:buFont typeface="Times New Roman" panose="02020603050405020304" pitchFamily="18" charset="0"/>
              <a:buAutoNum type="circleNumDbPlain"/>
            </a:pP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机加纹路：非以检测面中心点形成的圆形纹路，不合格；</a:t>
            </a:r>
            <a:endParaRPr lang="zh-CN" altLang="en-US" sz="2250"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gn="just">
              <a:spcBef>
                <a:spcPts val="0"/>
              </a:spcBef>
              <a:spcAft>
                <a:spcPts val="0"/>
              </a:spcAft>
              <a:buFont typeface="Times New Roman" panose="02020603050405020304" pitchFamily="18" charset="0"/>
              <a:buAutoNum type="circleNumDbPlain"/>
            </a:pP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脏污：与加工面明显颜色差异的点状凹坑或线状物，不合格。</a:t>
            </a:r>
            <a:endParaRPr lang="zh-CN" altLang="en-US" sz="2250"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gn="just">
              <a:spcBef>
                <a:spcPts val="0"/>
              </a:spcBef>
              <a:spcAft>
                <a:spcPts val="0"/>
              </a:spcAft>
              <a:buFont typeface="Times New Roman" panose="02020603050405020304" pitchFamily="18" charset="0"/>
              <a:buAutoNum type="circleNumDbPlain"/>
            </a:pP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其他异常后续根据设备调试现场再定义。</a:t>
            </a:r>
            <a:endParaRPr lang="zh-CN" altLang="en-US" sz="2250" kern="100" dirty="0">
              <a:effectLst/>
              <a:latin typeface="Calibri" panose="020F0502020204030204" pitchFamily="34" charset="0"/>
              <a:ea typeface="宋体" panose="02010600030101010101" pitchFamily="2" charset="-122"/>
              <a:cs typeface="Times New Roman" panose="02020603050405020304" pitchFamily="18" charset="0"/>
            </a:endParaRPr>
          </a:p>
          <a:p>
            <a:pPr marR="0" lvl="0" algn="just">
              <a:spcBef>
                <a:spcPts val="0"/>
              </a:spcBef>
              <a:spcAft>
                <a:spcPts val="0"/>
              </a:spcAft>
            </a:pPr>
            <a:r>
              <a:rPr lang="en-US" altLang="zh-CN" sz="2250" kern="100" dirty="0">
                <a:effectLst/>
                <a:latin typeface="宋体" panose="02010600030101010101" pitchFamily="2" charset="-122"/>
                <a:ea typeface="宋体" panose="02010600030101010101" pitchFamily="2" charset="-122"/>
                <a:cs typeface="Times New Roman" panose="02020603050405020304" pitchFamily="18" charset="0"/>
              </a:rPr>
              <a:t>4.</a:t>
            </a: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检测结果判定分类：</a:t>
            </a:r>
            <a:endParaRPr lang="zh-CN" altLang="en-US" sz="225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just">
              <a:spcBef>
                <a:spcPts val="0"/>
              </a:spcBef>
              <a:spcAft>
                <a:spcPts val="0"/>
              </a:spcAft>
              <a:buFont typeface="Times New Roman" panose="02020603050405020304" pitchFamily="18" charset="0"/>
              <a:buAutoNum type="arabicParenR"/>
            </a:pP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合格品、不合格品及待判定品；</a:t>
            </a:r>
            <a:endParaRPr lang="zh-CN" altLang="en-US" sz="225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just">
              <a:spcBef>
                <a:spcPts val="0"/>
              </a:spcBef>
              <a:spcAft>
                <a:spcPts val="0"/>
              </a:spcAft>
              <a:buFont typeface="Times New Roman" panose="02020603050405020304" pitchFamily="18" charset="0"/>
              <a:buAutoNum type="arabicParenR"/>
            </a:pP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合格品，要求判定</a:t>
            </a:r>
            <a:r>
              <a:rPr lang="en-US" altLang="zh-CN" sz="2250" kern="100" dirty="0">
                <a:effectLst/>
                <a:latin typeface="Calibri" panose="020F0502020204030204" pitchFamily="34" charset="0"/>
                <a:ea typeface="宋体" panose="02010600030101010101" pitchFamily="2" charset="-122"/>
                <a:cs typeface="Times New Roman" panose="02020603050405020304" pitchFamily="18" charset="0"/>
              </a:rPr>
              <a:t>100%</a:t>
            </a: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准确，人工不再复核；不合格品，要求判定</a:t>
            </a:r>
            <a:r>
              <a:rPr lang="en-US" altLang="zh-CN" sz="2250" kern="100" dirty="0">
                <a:effectLst/>
                <a:latin typeface="Calibri" panose="020F0502020204030204" pitchFamily="34" charset="0"/>
                <a:ea typeface="宋体" panose="02010600030101010101" pitchFamily="2" charset="-122"/>
                <a:cs typeface="Times New Roman" panose="02020603050405020304" pitchFamily="18" charset="0"/>
              </a:rPr>
              <a:t>100%</a:t>
            </a: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准确，人工不再复核；待判定品，人工复核判定；</a:t>
            </a:r>
            <a:endParaRPr lang="zh-CN" altLang="en-US" sz="225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just">
              <a:spcBef>
                <a:spcPts val="0"/>
              </a:spcBef>
              <a:spcAft>
                <a:spcPts val="0"/>
              </a:spcAft>
              <a:buFont typeface="Times New Roman" panose="02020603050405020304" pitchFamily="18" charset="0"/>
              <a:buAutoNum type="arabicParenR"/>
            </a:pP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合格品及不合格品，判定后的数量占比≥</a:t>
            </a:r>
            <a:r>
              <a:rPr lang="en-US" altLang="zh-CN" sz="2250" kern="100" dirty="0">
                <a:effectLst/>
                <a:latin typeface="Calibri" panose="020F0502020204030204" pitchFamily="34" charset="0"/>
                <a:ea typeface="宋体" panose="02010600030101010101" pitchFamily="2" charset="-122"/>
                <a:cs typeface="Times New Roman" panose="02020603050405020304" pitchFamily="18" charset="0"/>
              </a:rPr>
              <a:t>98%</a:t>
            </a: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，待判定品数量占比≤</a:t>
            </a:r>
            <a:r>
              <a:rPr lang="en-US" altLang="zh-CN" sz="2250"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a:t>
            </a:r>
            <a:endParaRPr lang="zh-CN" altLang="en-US" sz="2250" kern="100" dirty="0">
              <a:effectLst/>
              <a:latin typeface="Calibri" panose="020F0502020204030204" pitchFamily="34" charset="0"/>
              <a:ea typeface="宋体" panose="02010600030101010101" pitchFamily="2" charset="-122"/>
              <a:cs typeface="Times New Roman" panose="02020603050405020304" pitchFamily="18" charset="0"/>
            </a:endParaRPr>
          </a:p>
          <a:p>
            <a:pPr marR="0" lvl="0" algn="just">
              <a:spcBef>
                <a:spcPts val="0"/>
              </a:spcBef>
              <a:spcAft>
                <a:spcPts val="0"/>
              </a:spcAft>
            </a:pPr>
            <a:r>
              <a:rPr lang="en-US" altLang="zh-CN" sz="2250" kern="100" dirty="0">
                <a:effectLst/>
                <a:latin typeface="宋体" panose="02010600030101010101" pitchFamily="2" charset="-122"/>
                <a:ea typeface="宋体" panose="02010600030101010101" pitchFamily="2" charset="-122"/>
                <a:cs typeface="Times New Roman" panose="02020603050405020304" pitchFamily="18" charset="0"/>
              </a:rPr>
              <a:t>5.</a:t>
            </a: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设备功能需求：</a:t>
            </a:r>
            <a:endParaRPr lang="zh-CN" altLang="en-US" sz="225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just">
              <a:spcBef>
                <a:spcPts val="0"/>
              </a:spcBef>
              <a:spcAft>
                <a:spcPts val="0"/>
              </a:spcAft>
              <a:buFont typeface="Times New Roman" panose="02020603050405020304" pitchFamily="18" charset="0"/>
              <a:buAutoNum type="arabicParenR"/>
            </a:pP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设备需要实现功能，对物料检测面进行打光并完成拍照，根据成像图片进行自动识别并做出判定；</a:t>
            </a:r>
            <a:endParaRPr lang="zh-CN" altLang="en-US" sz="225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just">
              <a:spcBef>
                <a:spcPts val="0"/>
              </a:spcBef>
              <a:spcAft>
                <a:spcPts val="0"/>
              </a:spcAft>
              <a:buFont typeface="Times New Roman" panose="02020603050405020304" pitchFamily="18" charset="0"/>
              <a:buAutoNum type="arabicParenR"/>
            </a:pP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将相应判定结果应用后对物料分类并通过技术方式标识，明显标识出待判定品及不合格品（物理方式区分，该处方案需要技术细节说明及展示）。</a:t>
            </a:r>
            <a:endParaRPr lang="zh-CN" altLang="en-US" sz="225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just">
              <a:spcBef>
                <a:spcPts val="0"/>
              </a:spcBef>
              <a:spcAft>
                <a:spcPts val="0"/>
              </a:spcAft>
              <a:buFont typeface="Times New Roman" panose="02020603050405020304" pitchFamily="18" charset="0"/>
              <a:buAutoNum type="arabicParenR"/>
            </a:pPr>
            <a:r>
              <a:rPr lang="zh-CN" altLang="en-US" sz="2250" kern="100" dirty="0">
                <a:effectLst/>
                <a:latin typeface="宋体" panose="02010600030101010101" pitchFamily="2" charset="-122"/>
                <a:ea typeface="宋体" panose="02010600030101010101" pitchFamily="2" charset="-122"/>
                <a:cs typeface="Times New Roman" panose="02020603050405020304" pitchFamily="18" charset="0"/>
              </a:rPr>
              <a:t>具备缺陷学习能力：按照我司提供的不良图片学习，整理归纳不良品特征及参数，完善及调整不良特征。</a:t>
            </a:r>
            <a:endParaRPr lang="zh-CN" altLang="en-US" sz="2250" kern="100" dirty="0">
              <a:effectLst/>
              <a:latin typeface="Calibri" panose="020F0502020204030204" pitchFamily="34" charset="0"/>
              <a:ea typeface="宋体" panose="02010600030101010101" pitchFamily="2" charset="-122"/>
              <a:cs typeface="Times New Roman" panose="02020603050405020304" pitchFamily="18" charset="0"/>
            </a:endParaRPr>
          </a:p>
        </p:txBody>
      </p:sp>
      <p:grpSp>
        <p:nvGrpSpPr>
          <p:cNvPr id="18" name="Group 2">
            <a:extLst>
              <a:ext uri="{FF2B5EF4-FFF2-40B4-BE49-F238E27FC236}">
                <a16:creationId xmlns:a16="http://schemas.microsoft.com/office/drawing/2014/main" id="{F4A0445B-3206-4237-8705-3CAF6E3C72CA}"/>
              </a:ext>
            </a:extLst>
          </p:cNvPr>
          <p:cNvGrpSpPr/>
          <p:nvPr/>
        </p:nvGrpSpPr>
        <p:grpSpPr>
          <a:xfrm>
            <a:off x="2743201" y="596265"/>
            <a:ext cx="4191000" cy="959485"/>
            <a:chOff x="0" y="0"/>
            <a:chExt cx="5868000" cy="1279444"/>
          </a:xfrm>
          <a:solidFill>
            <a:srgbClr val="133970"/>
          </a:solidFill>
        </p:grpSpPr>
        <p:sp>
          <p:nvSpPr>
            <p:cNvPr id="19" name="Freeform 3">
              <a:extLst>
                <a:ext uri="{FF2B5EF4-FFF2-40B4-BE49-F238E27FC236}">
                  <a16:creationId xmlns:a16="http://schemas.microsoft.com/office/drawing/2014/main" id="{7248A633-DED8-4C92-896D-4EACBB8D394E}"/>
                </a:ext>
              </a:extLst>
            </p:cNvPr>
            <p:cNvSpPr/>
            <p:nvPr/>
          </p:nvSpPr>
          <p:spPr>
            <a:xfrm>
              <a:off x="0" y="0"/>
              <a:ext cx="5868035" cy="1279398"/>
            </a:xfrm>
            <a:custGeom>
              <a:avLst/>
              <a:gdLst/>
              <a:ahLst/>
              <a:cxnLst/>
              <a:rect l="l" t="t" r="r" b="b"/>
              <a:pathLst>
                <a:path w="5868035" h="1279398">
                  <a:moveTo>
                    <a:pt x="0" y="0"/>
                  </a:moveTo>
                  <a:lnTo>
                    <a:pt x="5868035" y="0"/>
                  </a:lnTo>
                  <a:lnTo>
                    <a:pt x="5868035" y="1279398"/>
                  </a:lnTo>
                  <a:lnTo>
                    <a:pt x="0" y="1279398"/>
                  </a:lnTo>
                  <a:close/>
                </a:path>
              </a:pathLst>
            </a:custGeom>
            <a:grpFill/>
          </p:spPr>
          <p:txBody>
            <a:bodyPr/>
            <a:lstStyle/>
            <a:p>
              <a:endParaRPr lang="zh-CN" altLang="en-US" dirty="0"/>
            </a:p>
          </p:txBody>
        </p:sp>
      </p:grpSp>
      <p:sp>
        <p:nvSpPr>
          <p:cNvPr id="20" name="TextBox 4">
            <a:extLst>
              <a:ext uri="{FF2B5EF4-FFF2-40B4-BE49-F238E27FC236}">
                <a16:creationId xmlns:a16="http://schemas.microsoft.com/office/drawing/2014/main" id="{81B98FEC-C1F7-4285-BE82-897D092C1C4E}"/>
              </a:ext>
            </a:extLst>
          </p:cNvPr>
          <p:cNvSpPr txBox="1"/>
          <p:nvPr/>
        </p:nvSpPr>
        <p:spPr>
          <a:xfrm>
            <a:off x="2895601" y="800100"/>
            <a:ext cx="3124200" cy="589915"/>
          </a:xfrm>
          <a:prstGeom prst="rect">
            <a:avLst/>
          </a:prstGeom>
        </p:spPr>
        <p:txBody>
          <a:bodyPr wrap="square" lIns="0" tIns="0" rIns="0" bIns="0" rtlCol="0" anchor="t">
            <a:noAutofit/>
          </a:bodyPr>
          <a:lstStyle/>
          <a:p>
            <a:pPr algn="l">
              <a:lnSpc>
                <a:spcPts val="4320"/>
              </a:lnSpc>
            </a:pPr>
            <a:r>
              <a:rPr lang="zh-CN" altLang="en-US" sz="3600" dirty="0">
                <a:solidFill>
                  <a:schemeClr val="bg1"/>
                </a:solidFill>
                <a:latin typeface="微软雅黑" panose="020B0503020204020204" charset="-122"/>
                <a:ea typeface="微软雅黑" panose="020B0503020204020204" charset="-122"/>
                <a:sym typeface="+mn-ea"/>
              </a:rPr>
              <a:t>系统需求分析</a:t>
            </a:r>
            <a:endParaRPr lang="zh-CN" altLang="en-US" sz="3600" spc="194" dirty="0">
              <a:solidFill>
                <a:schemeClr val="bg1"/>
              </a:solidFill>
              <a:latin typeface="微软雅黑" panose="020B0503020204020204" charset="-122"/>
              <a:ea typeface="微软雅黑" panose="020B0503020204020204" charset="-122"/>
              <a:cs typeface="字由点字典黑 65J Bold" panose="00020600040101010101" charset="-122"/>
              <a:sym typeface="+mn-ea"/>
            </a:endParaRPr>
          </a:p>
        </p:txBody>
      </p:sp>
      <p:grpSp>
        <p:nvGrpSpPr>
          <p:cNvPr id="23" name="Group 26">
            <a:extLst>
              <a:ext uri="{FF2B5EF4-FFF2-40B4-BE49-F238E27FC236}">
                <a16:creationId xmlns:a16="http://schemas.microsoft.com/office/drawing/2014/main" id="{CD5A9973-6905-4E34-9030-0CFC3FC048AB}"/>
              </a:ext>
            </a:extLst>
          </p:cNvPr>
          <p:cNvGrpSpPr/>
          <p:nvPr/>
        </p:nvGrpSpPr>
        <p:grpSpPr>
          <a:xfrm>
            <a:off x="0" y="1378974"/>
            <a:ext cx="2452685" cy="176473"/>
            <a:chOff x="0" y="0"/>
            <a:chExt cx="2364602" cy="170135"/>
          </a:xfrm>
          <a:solidFill>
            <a:srgbClr val="133970"/>
          </a:solidFill>
        </p:grpSpPr>
        <p:sp>
          <p:nvSpPr>
            <p:cNvPr id="27" name="Freeform 27">
              <a:extLst>
                <a:ext uri="{FF2B5EF4-FFF2-40B4-BE49-F238E27FC236}">
                  <a16:creationId xmlns:a16="http://schemas.microsoft.com/office/drawing/2014/main" id="{04083752-9F21-4FAC-BB03-49554A1B4E2E}"/>
                </a:ext>
              </a:extLst>
            </p:cNvPr>
            <p:cNvSpPr/>
            <p:nvPr/>
          </p:nvSpPr>
          <p:spPr>
            <a:xfrm>
              <a:off x="0" y="0"/>
              <a:ext cx="2364621" cy="170129"/>
            </a:xfrm>
            <a:custGeom>
              <a:avLst/>
              <a:gdLst/>
              <a:ahLst/>
              <a:cxnLst/>
              <a:rect l="l" t="t" r="r" b="b"/>
              <a:pathLst>
                <a:path w="2364621" h="170129">
                  <a:moveTo>
                    <a:pt x="0" y="0"/>
                  </a:moveTo>
                  <a:lnTo>
                    <a:pt x="2364621" y="0"/>
                  </a:lnTo>
                  <a:lnTo>
                    <a:pt x="2364621" y="170129"/>
                  </a:lnTo>
                  <a:lnTo>
                    <a:pt x="0" y="170129"/>
                  </a:lnTo>
                  <a:close/>
                </a:path>
              </a:pathLst>
            </a:custGeom>
            <a:grpFill/>
          </p:spPr>
        </p:sp>
      </p:grpSp>
      <p:sp>
        <p:nvSpPr>
          <p:cNvPr id="28" name="TextBox 35">
            <a:extLst>
              <a:ext uri="{FF2B5EF4-FFF2-40B4-BE49-F238E27FC236}">
                <a16:creationId xmlns:a16="http://schemas.microsoft.com/office/drawing/2014/main" id="{A49417F2-CB6D-4B6C-82D2-688B034CD257}"/>
              </a:ext>
            </a:extLst>
          </p:cNvPr>
          <p:cNvSpPr txBox="1"/>
          <p:nvPr/>
        </p:nvSpPr>
        <p:spPr>
          <a:xfrm>
            <a:off x="970304" y="161962"/>
            <a:ext cx="1840527" cy="1563954"/>
          </a:xfrm>
          <a:prstGeom prst="rect">
            <a:avLst/>
          </a:prstGeom>
        </p:spPr>
        <p:txBody>
          <a:bodyPr lIns="0" tIns="0" rIns="0" bIns="0" rtlCol="0" anchor="t">
            <a:spAutoFit/>
          </a:bodyPr>
          <a:lstStyle/>
          <a:p>
            <a:pPr algn="l">
              <a:lnSpc>
                <a:spcPts val="12960"/>
              </a:lnSpc>
            </a:pPr>
            <a:r>
              <a:rPr lang="en-US" sz="10800" b="1" dirty="0">
                <a:solidFill>
                  <a:srgbClr val="000000"/>
                </a:solidFill>
                <a:latin typeface="Nirmala UI Semilight" panose="020B0402040204020203" charset="0"/>
                <a:ea typeface="Arimo Bold" panose="020B0704020202020204"/>
                <a:cs typeface="Nirmala UI Semilight" panose="020B0402040204020203" charset="0"/>
                <a:sym typeface="Arimo Bold" panose="020B0704020202020204"/>
              </a:rPr>
              <a:t>01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资源 12xxxhdpi"/>
          <p:cNvPicPr>
            <a:picLocks noChangeAspect="1"/>
          </p:cNvPicPr>
          <p:nvPr/>
        </p:nvPicPr>
        <p:blipFill>
          <a:blip r:embed="rId2"/>
          <a:stretch>
            <a:fillRect/>
          </a:stretch>
        </p:blipFill>
        <p:spPr>
          <a:xfrm>
            <a:off x="16306800" y="114300"/>
            <a:ext cx="1841500" cy="467360"/>
          </a:xfrm>
          <a:prstGeom prst="rect">
            <a:avLst/>
          </a:prstGeom>
        </p:spPr>
      </p:pic>
      <p:sp>
        <p:nvSpPr>
          <p:cNvPr id="21" name="矩形 20"/>
          <p:cNvSpPr/>
          <p:nvPr/>
        </p:nvSpPr>
        <p:spPr>
          <a:xfrm>
            <a:off x="0" y="9898380"/>
            <a:ext cx="18288000" cy="380365"/>
          </a:xfrm>
          <a:prstGeom prst="rect">
            <a:avLst/>
          </a:prstGeom>
          <a:solidFill>
            <a:srgbClr val="114B82">
              <a:alpha val="78000"/>
            </a:srgb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latin typeface="Times New Roman" panose="02020603050405020304" charset="0"/>
              <a:cs typeface="Times New Roman" panose="02020603050405020304" charset="0"/>
            </a:endParaRPr>
          </a:p>
        </p:txBody>
      </p:sp>
      <p:sp>
        <p:nvSpPr>
          <p:cNvPr id="22" name="矩形 21"/>
          <p:cNvSpPr/>
          <p:nvPr/>
        </p:nvSpPr>
        <p:spPr>
          <a:xfrm flipV="1">
            <a:off x="7759700" y="-5080"/>
            <a:ext cx="10546715" cy="119380"/>
          </a:xfrm>
          <a:prstGeom prst="rect">
            <a:avLst/>
          </a:prstGeom>
          <a:solidFill>
            <a:srgbClr val="D6001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latin typeface="Times New Roman" panose="02020603050405020304" charset="0"/>
              <a:cs typeface="Times New Roman" panose="02020603050405020304" charset="0"/>
            </a:endParaRPr>
          </a:p>
        </p:txBody>
      </p:sp>
      <p:grpSp>
        <p:nvGrpSpPr>
          <p:cNvPr id="18" name="Group 2">
            <a:extLst>
              <a:ext uri="{FF2B5EF4-FFF2-40B4-BE49-F238E27FC236}">
                <a16:creationId xmlns:a16="http://schemas.microsoft.com/office/drawing/2014/main" id="{F4A0445B-3206-4237-8705-3CAF6E3C72CA}"/>
              </a:ext>
            </a:extLst>
          </p:cNvPr>
          <p:cNvGrpSpPr/>
          <p:nvPr/>
        </p:nvGrpSpPr>
        <p:grpSpPr>
          <a:xfrm>
            <a:off x="2743201" y="596265"/>
            <a:ext cx="4191000" cy="959485"/>
            <a:chOff x="0" y="0"/>
            <a:chExt cx="5868000" cy="1279444"/>
          </a:xfrm>
          <a:solidFill>
            <a:srgbClr val="133970"/>
          </a:solidFill>
        </p:grpSpPr>
        <p:sp>
          <p:nvSpPr>
            <p:cNvPr id="19" name="Freeform 3">
              <a:extLst>
                <a:ext uri="{FF2B5EF4-FFF2-40B4-BE49-F238E27FC236}">
                  <a16:creationId xmlns:a16="http://schemas.microsoft.com/office/drawing/2014/main" id="{7248A633-DED8-4C92-896D-4EACBB8D394E}"/>
                </a:ext>
              </a:extLst>
            </p:cNvPr>
            <p:cNvSpPr/>
            <p:nvPr/>
          </p:nvSpPr>
          <p:spPr>
            <a:xfrm>
              <a:off x="0" y="0"/>
              <a:ext cx="5868035" cy="1279398"/>
            </a:xfrm>
            <a:custGeom>
              <a:avLst/>
              <a:gdLst/>
              <a:ahLst/>
              <a:cxnLst/>
              <a:rect l="l" t="t" r="r" b="b"/>
              <a:pathLst>
                <a:path w="5868035" h="1279398">
                  <a:moveTo>
                    <a:pt x="0" y="0"/>
                  </a:moveTo>
                  <a:lnTo>
                    <a:pt x="5868035" y="0"/>
                  </a:lnTo>
                  <a:lnTo>
                    <a:pt x="5868035" y="1279398"/>
                  </a:lnTo>
                  <a:lnTo>
                    <a:pt x="0" y="1279398"/>
                  </a:lnTo>
                  <a:close/>
                </a:path>
              </a:pathLst>
            </a:custGeom>
            <a:grpFill/>
          </p:spPr>
          <p:txBody>
            <a:bodyPr/>
            <a:lstStyle/>
            <a:p>
              <a:endParaRPr lang="zh-CN" altLang="en-US" dirty="0"/>
            </a:p>
          </p:txBody>
        </p:sp>
      </p:grpSp>
      <p:sp>
        <p:nvSpPr>
          <p:cNvPr id="20" name="TextBox 4">
            <a:extLst>
              <a:ext uri="{FF2B5EF4-FFF2-40B4-BE49-F238E27FC236}">
                <a16:creationId xmlns:a16="http://schemas.microsoft.com/office/drawing/2014/main" id="{81B98FEC-C1F7-4285-BE82-897D092C1C4E}"/>
              </a:ext>
            </a:extLst>
          </p:cNvPr>
          <p:cNvSpPr txBox="1"/>
          <p:nvPr/>
        </p:nvSpPr>
        <p:spPr>
          <a:xfrm>
            <a:off x="2895601" y="800100"/>
            <a:ext cx="3124200" cy="589915"/>
          </a:xfrm>
          <a:prstGeom prst="rect">
            <a:avLst/>
          </a:prstGeom>
        </p:spPr>
        <p:txBody>
          <a:bodyPr wrap="square" lIns="0" tIns="0" rIns="0" bIns="0" rtlCol="0" anchor="t">
            <a:noAutofit/>
          </a:bodyPr>
          <a:lstStyle/>
          <a:p>
            <a:pPr algn="l">
              <a:lnSpc>
                <a:spcPts val="4320"/>
              </a:lnSpc>
            </a:pPr>
            <a:r>
              <a:rPr lang="zh-CN" altLang="en-US" sz="3600" dirty="0">
                <a:solidFill>
                  <a:schemeClr val="bg1"/>
                </a:solidFill>
                <a:latin typeface="微软雅黑" panose="020B0503020204020204" charset="-122"/>
                <a:ea typeface="微软雅黑" panose="020B0503020204020204" charset="-122"/>
                <a:sym typeface="+mn-ea"/>
              </a:rPr>
              <a:t>系统需求分析</a:t>
            </a:r>
            <a:endParaRPr lang="zh-CN" altLang="en-US" sz="3600" spc="194" dirty="0">
              <a:solidFill>
                <a:schemeClr val="bg1"/>
              </a:solidFill>
              <a:latin typeface="微软雅黑" panose="020B0503020204020204" charset="-122"/>
              <a:ea typeface="微软雅黑" panose="020B0503020204020204" charset="-122"/>
              <a:cs typeface="字由点字典黑 65J Bold" panose="00020600040101010101" charset="-122"/>
              <a:sym typeface="+mn-ea"/>
            </a:endParaRPr>
          </a:p>
        </p:txBody>
      </p:sp>
      <p:grpSp>
        <p:nvGrpSpPr>
          <p:cNvPr id="23" name="Group 26">
            <a:extLst>
              <a:ext uri="{FF2B5EF4-FFF2-40B4-BE49-F238E27FC236}">
                <a16:creationId xmlns:a16="http://schemas.microsoft.com/office/drawing/2014/main" id="{CD5A9973-6905-4E34-9030-0CFC3FC048AB}"/>
              </a:ext>
            </a:extLst>
          </p:cNvPr>
          <p:cNvGrpSpPr/>
          <p:nvPr/>
        </p:nvGrpSpPr>
        <p:grpSpPr>
          <a:xfrm>
            <a:off x="0" y="1378974"/>
            <a:ext cx="2452685" cy="176473"/>
            <a:chOff x="0" y="0"/>
            <a:chExt cx="2364602" cy="170135"/>
          </a:xfrm>
          <a:solidFill>
            <a:srgbClr val="133970"/>
          </a:solidFill>
        </p:grpSpPr>
        <p:sp>
          <p:nvSpPr>
            <p:cNvPr id="27" name="Freeform 27">
              <a:extLst>
                <a:ext uri="{FF2B5EF4-FFF2-40B4-BE49-F238E27FC236}">
                  <a16:creationId xmlns:a16="http://schemas.microsoft.com/office/drawing/2014/main" id="{04083752-9F21-4FAC-BB03-49554A1B4E2E}"/>
                </a:ext>
              </a:extLst>
            </p:cNvPr>
            <p:cNvSpPr/>
            <p:nvPr/>
          </p:nvSpPr>
          <p:spPr>
            <a:xfrm>
              <a:off x="0" y="0"/>
              <a:ext cx="2364621" cy="170129"/>
            </a:xfrm>
            <a:custGeom>
              <a:avLst/>
              <a:gdLst/>
              <a:ahLst/>
              <a:cxnLst/>
              <a:rect l="l" t="t" r="r" b="b"/>
              <a:pathLst>
                <a:path w="2364621" h="170129">
                  <a:moveTo>
                    <a:pt x="0" y="0"/>
                  </a:moveTo>
                  <a:lnTo>
                    <a:pt x="2364621" y="0"/>
                  </a:lnTo>
                  <a:lnTo>
                    <a:pt x="2364621" y="170129"/>
                  </a:lnTo>
                  <a:lnTo>
                    <a:pt x="0" y="170129"/>
                  </a:lnTo>
                  <a:close/>
                </a:path>
              </a:pathLst>
            </a:custGeom>
            <a:grpFill/>
          </p:spPr>
        </p:sp>
      </p:grpSp>
      <p:sp>
        <p:nvSpPr>
          <p:cNvPr id="28" name="TextBox 35">
            <a:extLst>
              <a:ext uri="{FF2B5EF4-FFF2-40B4-BE49-F238E27FC236}">
                <a16:creationId xmlns:a16="http://schemas.microsoft.com/office/drawing/2014/main" id="{A49417F2-CB6D-4B6C-82D2-688B034CD257}"/>
              </a:ext>
            </a:extLst>
          </p:cNvPr>
          <p:cNvSpPr txBox="1"/>
          <p:nvPr/>
        </p:nvSpPr>
        <p:spPr>
          <a:xfrm>
            <a:off x="970304" y="161962"/>
            <a:ext cx="1840527" cy="1563954"/>
          </a:xfrm>
          <a:prstGeom prst="rect">
            <a:avLst/>
          </a:prstGeom>
        </p:spPr>
        <p:txBody>
          <a:bodyPr lIns="0" tIns="0" rIns="0" bIns="0" rtlCol="0" anchor="t">
            <a:spAutoFit/>
          </a:bodyPr>
          <a:lstStyle/>
          <a:p>
            <a:pPr algn="l">
              <a:lnSpc>
                <a:spcPts val="12960"/>
              </a:lnSpc>
            </a:pPr>
            <a:r>
              <a:rPr lang="en-US" sz="10800" b="1" dirty="0">
                <a:solidFill>
                  <a:srgbClr val="000000"/>
                </a:solidFill>
                <a:latin typeface="Nirmala UI Semilight" panose="020B0402040204020203" charset="0"/>
                <a:ea typeface="Arimo Bold" panose="020B0704020202020204"/>
                <a:cs typeface="Nirmala UI Semilight" panose="020B0402040204020203" charset="0"/>
                <a:sym typeface="Arimo Bold" panose="020B0704020202020204"/>
              </a:rPr>
              <a:t>01</a:t>
            </a:r>
          </a:p>
        </p:txBody>
      </p:sp>
      <p:sp>
        <p:nvSpPr>
          <p:cNvPr id="29" name="文本框 28">
            <a:extLst>
              <a:ext uri="{FF2B5EF4-FFF2-40B4-BE49-F238E27FC236}">
                <a16:creationId xmlns:a16="http://schemas.microsoft.com/office/drawing/2014/main" id="{1CA94954-BCF1-415D-9EA8-9CEE7FAB77B8}"/>
              </a:ext>
            </a:extLst>
          </p:cNvPr>
          <p:cNvSpPr txBox="1"/>
          <p:nvPr/>
        </p:nvSpPr>
        <p:spPr>
          <a:xfrm>
            <a:off x="897568" y="1671853"/>
            <a:ext cx="16018831" cy="8056052"/>
          </a:xfrm>
          <a:prstGeom prst="rect">
            <a:avLst/>
          </a:prstGeom>
          <a:noFill/>
        </p:spPr>
        <p:txBody>
          <a:bodyPr wrap="square">
            <a:spAutoFit/>
          </a:bodyPr>
          <a:lstStyle/>
          <a:p>
            <a:pPr marR="0" lvl="0" algn="just">
              <a:spcBef>
                <a:spcPts val="0"/>
              </a:spcBef>
              <a:spcAft>
                <a:spcPts val="0"/>
              </a:spcAft>
            </a:pPr>
            <a:r>
              <a:rPr lang="en-US" altLang="zh-CN" sz="2250" kern="100" dirty="0">
                <a:latin typeface="宋体" panose="02010600030101010101" pitchFamily="2" charset="-122"/>
                <a:ea typeface="宋体" panose="02010600030101010101" pitchFamily="2" charset="-122"/>
                <a:cs typeface="Times New Roman" panose="02020603050405020304" pitchFamily="18" charset="0"/>
              </a:rPr>
              <a:t>5.</a:t>
            </a: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信息存储及处理模块</a:t>
            </a:r>
          </a:p>
          <a:p>
            <a:pPr marL="342900" marR="0" lvl="0" indent="-342900" algn="just">
              <a:spcBef>
                <a:spcPts val="0"/>
              </a:spcBef>
              <a:spcAft>
                <a:spcPts val="0"/>
              </a:spcAft>
              <a:buFont typeface="宋体" panose="02010600030101010101" pitchFamily="2" charset="-122"/>
              <a:buAutoNum type="arabicParenR"/>
            </a:pP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物料检测结果以图片或视频输出及存储，智能识别信息并做出结果判定；</a:t>
            </a:r>
          </a:p>
          <a:p>
            <a:pPr marL="342900" marR="0" lvl="0" indent="-342900" algn="just">
              <a:spcBef>
                <a:spcPts val="0"/>
              </a:spcBef>
              <a:spcAft>
                <a:spcPts val="0"/>
              </a:spcAft>
              <a:buFont typeface="宋体" panose="02010600030101010101" pitchFamily="2" charset="-122"/>
              <a:buAutoNum type="arabicParenR"/>
            </a:pP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每物料均生成单独检测记录，应以统一命名方式（可与我司沟通确定），文字</a:t>
            </a:r>
            <a:r>
              <a:rPr lang="en-US" altLang="zh-CN" sz="2250" kern="100" dirty="0">
                <a:latin typeface="宋体" panose="02010600030101010101" pitchFamily="2" charset="-122"/>
                <a:ea typeface="宋体" panose="02010600030101010101" pitchFamily="2" charset="-122"/>
                <a:cs typeface="Times New Roman" panose="02020603050405020304" pitchFamily="18" charset="0"/>
              </a:rPr>
              <a:t>+</a:t>
            </a: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图片格式，包含以下信息：零件基础信息、检测项目、设定参数、检测判定结果。如为不良品或待判定品，需要在图片标识异常位置及可能缺陷类型；</a:t>
            </a:r>
          </a:p>
          <a:p>
            <a:pPr marL="342900" marR="0" lvl="0" indent="-342900" algn="just">
              <a:spcBef>
                <a:spcPts val="0"/>
              </a:spcBef>
              <a:spcAft>
                <a:spcPts val="0"/>
              </a:spcAft>
              <a:buFont typeface="宋体" panose="02010600030101010101" pitchFamily="2" charset="-122"/>
              <a:buAutoNum type="arabicParenR"/>
            </a:pP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检测记录应能上传到我公司内部</a:t>
            </a:r>
            <a:r>
              <a:rPr lang="en-US" altLang="zh-CN" sz="2250" kern="100" dirty="0">
                <a:latin typeface="宋体" panose="02010600030101010101" pitchFamily="2" charset="-122"/>
                <a:ea typeface="宋体" panose="02010600030101010101" pitchFamily="2" charset="-122"/>
                <a:cs typeface="Times New Roman" panose="02020603050405020304" pitchFamily="18" charset="0"/>
              </a:rPr>
              <a:t>MES</a:t>
            </a: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系统，并免费配合我司完成设备与系统对接调试。同时所有检测记录集成整理存储在本地文件夹，应按照统一命名并自动存放到设备存储盘中（存储盘每天自动备份一次，文档存入不同文档）。</a:t>
            </a:r>
          </a:p>
          <a:p>
            <a:pPr marL="342900" marR="0" lvl="0" indent="-342900" algn="just">
              <a:spcBef>
                <a:spcPts val="0"/>
              </a:spcBef>
              <a:spcAft>
                <a:spcPts val="0"/>
              </a:spcAft>
              <a:buFont typeface="宋体" panose="02010600030101010101" pitchFamily="2" charset="-122"/>
              <a:buAutoNum type="arabicParenR"/>
            </a:pP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信息系统按照我司提供的物料或不良图片学习，整理归纳不良品特征及参数，完善及调整不良特征；</a:t>
            </a:r>
          </a:p>
          <a:p>
            <a:pPr marL="342900" marR="0" lvl="0" indent="-342900" algn="just">
              <a:spcBef>
                <a:spcPts val="0"/>
              </a:spcBef>
              <a:spcAft>
                <a:spcPts val="0"/>
              </a:spcAft>
              <a:buFont typeface="宋体" panose="02010600030101010101" pitchFamily="2" charset="-122"/>
              <a:buAutoNum type="arabicParenR"/>
            </a:pP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设备工控机：内存≥</a:t>
            </a:r>
            <a:r>
              <a:rPr lang="en-US" altLang="zh-CN" sz="2250" kern="100" dirty="0">
                <a:latin typeface="宋体" panose="02010600030101010101" pitchFamily="2" charset="-122"/>
                <a:ea typeface="宋体" panose="02010600030101010101" pitchFamily="2" charset="-122"/>
                <a:cs typeface="Times New Roman" panose="02020603050405020304" pitchFamily="18" charset="0"/>
              </a:rPr>
              <a:t>16G</a:t>
            </a: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a:t>
            </a:r>
            <a:r>
              <a:rPr lang="en-US" altLang="zh-CN" sz="2250" kern="100" dirty="0">
                <a:latin typeface="宋体" panose="02010600030101010101" pitchFamily="2" charset="-122"/>
                <a:ea typeface="宋体" panose="02010600030101010101" pitchFamily="2" charset="-122"/>
                <a:cs typeface="Times New Roman" panose="02020603050405020304" pitchFamily="18" charset="0"/>
              </a:rPr>
              <a:t>CPU </a:t>
            </a: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a:t>
            </a:r>
            <a:r>
              <a:rPr lang="en-US" altLang="zh-CN" sz="2250" kern="100" dirty="0">
                <a:latin typeface="宋体" panose="02010600030101010101" pitchFamily="2" charset="-122"/>
                <a:ea typeface="宋体" panose="02010600030101010101" pitchFamily="2" charset="-122"/>
                <a:cs typeface="Times New Roman" panose="02020603050405020304" pitchFamily="18" charset="0"/>
              </a:rPr>
              <a:t>13</a:t>
            </a: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代</a:t>
            </a:r>
            <a:r>
              <a:rPr lang="en-US" altLang="zh-CN" sz="2250" kern="100" dirty="0">
                <a:latin typeface="宋体" panose="02010600030101010101" pitchFamily="2" charset="-122"/>
                <a:ea typeface="宋体" panose="02010600030101010101" pitchFamily="2" charset="-122"/>
                <a:cs typeface="Times New Roman" panose="02020603050405020304" pitchFamily="18" charset="0"/>
              </a:rPr>
              <a:t>i7</a:t>
            </a: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、硬盘≥</a:t>
            </a:r>
            <a:r>
              <a:rPr lang="en-US" altLang="zh-CN" sz="2250" kern="100" dirty="0">
                <a:latin typeface="宋体" panose="02010600030101010101" pitchFamily="2" charset="-122"/>
                <a:ea typeface="宋体" panose="02010600030101010101" pitchFamily="2" charset="-122"/>
                <a:cs typeface="Times New Roman" panose="02020603050405020304" pitchFamily="18" charset="0"/>
              </a:rPr>
              <a:t>32T</a:t>
            </a: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，以满足设备功能运行流畅，无卡顿为准。现有选型配置：</a:t>
            </a:r>
            <a:r>
              <a:rPr lang="en-US" altLang="zh-CN" sz="2250" kern="100" dirty="0">
                <a:highlight>
                  <a:srgbClr val="FFFF00"/>
                </a:highlight>
                <a:latin typeface="宋体" panose="02010600030101010101" pitchFamily="2" charset="-122"/>
                <a:ea typeface="宋体" panose="02010600030101010101" pitchFamily="2" charset="-122"/>
                <a:cs typeface="Times New Roman" panose="02020603050405020304" pitchFamily="18" charset="0"/>
              </a:rPr>
              <a:t>CPU i7-13700</a:t>
            </a:r>
            <a:r>
              <a:rPr lang="zh-CN" altLang="en-US" sz="2250" kern="100" dirty="0">
                <a:highlight>
                  <a:srgbClr val="FFFF00"/>
                </a:highlight>
                <a:latin typeface="宋体" panose="02010600030101010101" pitchFamily="2" charset="-122"/>
                <a:ea typeface="宋体" panose="02010600030101010101" pitchFamily="2" charset="-122"/>
                <a:cs typeface="Times New Roman" panose="02020603050405020304" pitchFamily="18" charset="0"/>
              </a:rPr>
              <a:t>、</a:t>
            </a:r>
            <a:r>
              <a:rPr lang="en-US" altLang="zh-CN" sz="2250" kern="100" dirty="0">
                <a:highlight>
                  <a:srgbClr val="FFFF00"/>
                </a:highlight>
                <a:latin typeface="宋体" panose="02010600030101010101" pitchFamily="2" charset="-122"/>
                <a:ea typeface="宋体" panose="02010600030101010101" pitchFamily="2" charset="-122"/>
                <a:cs typeface="Times New Roman" panose="02020603050405020304" pitchFamily="18" charset="0"/>
              </a:rPr>
              <a:t>DDR4 16G</a:t>
            </a:r>
            <a:r>
              <a:rPr lang="zh-CN" altLang="en-US" sz="2250" kern="100" dirty="0">
                <a:highlight>
                  <a:srgbClr val="FFFF00"/>
                </a:highlight>
                <a:latin typeface="宋体" panose="02010600030101010101" pitchFamily="2" charset="-122"/>
                <a:ea typeface="宋体" panose="02010600030101010101" pitchFamily="2" charset="-122"/>
                <a:cs typeface="Times New Roman" panose="02020603050405020304" pitchFamily="18" charset="0"/>
              </a:rPr>
              <a:t>内存*</a:t>
            </a:r>
            <a:r>
              <a:rPr lang="en-US" altLang="zh-CN" sz="2250" kern="100" dirty="0">
                <a:highlight>
                  <a:srgbClr val="FFFF00"/>
                </a:highlight>
                <a:latin typeface="宋体" panose="02010600030101010101" pitchFamily="2" charset="-122"/>
                <a:ea typeface="宋体" panose="02010600030101010101" pitchFamily="2" charset="-122"/>
                <a:cs typeface="Times New Roman" panose="02020603050405020304" pitchFamily="18" charset="0"/>
              </a:rPr>
              <a:t>2</a:t>
            </a:r>
            <a:r>
              <a:rPr lang="zh-CN" altLang="en-US" sz="2250" kern="100" dirty="0">
                <a:highlight>
                  <a:srgbClr val="FFFF00"/>
                </a:highlight>
                <a:latin typeface="宋体" panose="02010600030101010101" pitchFamily="2" charset="-122"/>
                <a:ea typeface="宋体" panose="02010600030101010101" pitchFamily="2" charset="-122"/>
                <a:cs typeface="Times New Roman" panose="02020603050405020304" pitchFamily="18" charset="0"/>
              </a:rPr>
              <a:t>、</a:t>
            </a:r>
            <a:r>
              <a:rPr lang="en-US" altLang="zh-CN" sz="2250" kern="100" dirty="0">
                <a:highlight>
                  <a:srgbClr val="FFFF00"/>
                </a:highlight>
                <a:latin typeface="宋体" panose="02010600030101010101" pitchFamily="2" charset="-122"/>
                <a:ea typeface="宋体" panose="02010600030101010101" pitchFamily="2" charset="-122"/>
                <a:cs typeface="Times New Roman" panose="02020603050405020304" pitchFamily="18" charset="0"/>
              </a:rPr>
              <a:t>1T SSD</a:t>
            </a:r>
            <a:r>
              <a:rPr lang="zh-CN" altLang="en-US" sz="2250" kern="100" dirty="0">
                <a:highlight>
                  <a:srgbClr val="FFFF00"/>
                </a:highlight>
                <a:latin typeface="宋体" panose="02010600030101010101" pitchFamily="2" charset="-122"/>
                <a:ea typeface="宋体" panose="02010600030101010101" pitchFamily="2" charset="-122"/>
                <a:cs typeface="Times New Roman" panose="02020603050405020304" pitchFamily="18" charset="0"/>
              </a:rPr>
              <a:t>固态、</a:t>
            </a:r>
            <a:r>
              <a:rPr lang="en-US" altLang="zh-CN" sz="2250" kern="100" dirty="0">
                <a:highlight>
                  <a:srgbClr val="FFFF00"/>
                </a:highlight>
                <a:latin typeface="宋体" panose="02010600030101010101" pitchFamily="2" charset="-122"/>
                <a:ea typeface="宋体" panose="02010600030101010101" pitchFamily="2" charset="-122"/>
                <a:cs typeface="Times New Roman" panose="02020603050405020304" pitchFamily="18" charset="0"/>
              </a:rPr>
              <a:t>16T</a:t>
            </a:r>
            <a:r>
              <a:rPr lang="zh-CN" altLang="en-US" sz="2250" kern="100" dirty="0">
                <a:highlight>
                  <a:srgbClr val="FFFF00"/>
                </a:highlight>
                <a:latin typeface="宋体" panose="02010600030101010101" pitchFamily="2" charset="-122"/>
                <a:ea typeface="宋体" panose="02010600030101010101" pitchFamily="2" charset="-122"/>
                <a:cs typeface="Times New Roman" panose="02020603050405020304" pitchFamily="18" charset="0"/>
              </a:rPr>
              <a:t>机械硬盘*</a:t>
            </a:r>
            <a:r>
              <a:rPr lang="en-US" altLang="zh-CN" sz="2250" kern="100" dirty="0">
                <a:highlight>
                  <a:srgbClr val="FFFF00"/>
                </a:highlight>
                <a:latin typeface="宋体" panose="02010600030101010101" pitchFamily="2" charset="-122"/>
                <a:ea typeface="宋体" panose="02010600030101010101" pitchFamily="2" charset="-122"/>
                <a:cs typeface="Times New Roman" panose="02020603050405020304" pitchFamily="18" charset="0"/>
              </a:rPr>
              <a:t>2</a:t>
            </a:r>
            <a:r>
              <a:rPr lang="zh-CN" altLang="en-US" sz="2250" kern="100" dirty="0">
                <a:highlight>
                  <a:srgbClr val="FFFF00"/>
                </a:highlight>
                <a:latin typeface="宋体" panose="02010600030101010101" pitchFamily="2" charset="-122"/>
                <a:ea typeface="宋体" panose="02010600030101010101" pitchFamily="2" charset="-122"/>
                <a:cs typeface="Times New Roman" panose="02020603050405020304" pitchFamily="18" charset="0"/>
              </a:rPr>
              <a:t>，</a:t>
            </a:r>
            <a:r>
              <a:rPr lang="en-US" altLang="zh-CN" sz="2250" kern="100" dirty="0">
                <a:highlight>
                  <a:srgbClr val="FFFF00"/>
                </a:highlight>
                <a:latin typeface="宋体" panose="02010600030101010101" pitchFamily="2" charset="-122"/>
                <a:ea typeface="宋体" panose="02010600030101010101" pitchFamily="2" charset="-122"/>
                <a:cs typeface="Times New Roman" panose="02020603050405020304" pitchFamily="18" charset="0"/>
              </a:rPr>
              <a:t>3060</a:t>
            </a:r>
            <a:r>
              <a:rPr lang="zh-CN" altLang="en-US" sz="2250" kern="100" dirty="0">
                <a:highlight>
                  <a:srgbClr val="FFFF00"/>
                </a:highlight>
                <a:latin typeface="宋体" panose="02010600030101010101" pitchFamily="2" charset="-122"/>
                <a:ea typeface="宋体" panose="02010600030101010101" pitchFamily="2" charset="-122"/>
                <a:cs typeface="Times New Roman" panose="02020603050405020304" pitchFamily="18" charset="0"/>
              </a:rPr>
              <a:t>或</a:t>
            </a:r>
            <a:r>
              <a:rPr lang="en-US" altLang="zh-CN" sz="2250" kern="100" dirty="0">
                <a:highlight>
                  <a:srgbClr val="FFFF00"/>
                </a:highlight>
                <a:latin typeface="宋体" panose="02010600030101010101" pitchFamily="2" charset="-122"/>
                <a:ea typeface="宋体" panose="02010600030101010101" pitchFamily="2" charset="-122"/>
                <a:cs typeface="Times New Roman" panose="02020603050405020304" pitchFamily="18" charset="0"/>
              </a:rPr>
              <a:t>5060</a:t>
            </a:r>
            <a:r>
              <a:rPr lang="zh-CN" altLang="en-US" sz="2250" kern="100" dirty="0">
                <a:highlight>
                  <a:srgbClr val="FFFF00"/>
                </a:highlight>
                <a:latin typeface="宋体" panose="02010600030101010101" pitchFamily="2" charset="-122"/>
                <a:ea typeface="宋体" panose="02010600030101010101" pitchFamily="2" charset="-122"/>
                <a:cs typeface="Times New Roman" panose="02020603050405020304" pitchFamily="18" charset="0"/>
              </a:rPr>
              <a:t>显卡，</a:t>
            </a:r>
            <a:r>
              <a:rPr lang="en-US" altLang="zh-CN" sz="2250" kern="100" dirty="0">
                <a:highlight>
                  <a:srgbClr val="FFFF00"/>
                </a:highlight>
                <a:latin typeface="宋体" panose="02010600030101010101" pitchFamily="2" charset="-122"/>
                <a:ea typeface="宋体" panose="02010600030101010101" pitchFamily="2" charset="-122"/>
                <a:cs typeface="Times New Roman" panose="02020603050405020304" pitchFamily="18" charset="0"/>
              </a:rPr>
              <a:t>8</a:t>
            </a:r>
            <a:r>
              <a:rPr lang="zh-CN" altLang="en-US" sz="2250" kern="100" dirty="0">
                <a:highlight>
                  <a:srgbClr val="FFFF00"/>
                </a:highlight>
                <a:latin typeface="宋体" panose="02010600030101010101" pitchFamily="2" charset="-122"/>
                <a:ea typeface="宋体" panose="02010600030101010101" pitchFamily="2" charset="-122"/>
                <a:cs typeface="Times New Roman" panose="02020603050405020304" pitchFamily="18" charset="0"/>
              </a:rPr>
              <a:t>网口、</a:t>
            </a:r>
            <a:r>
              <a:rPr lang="en-US" altLang="zh-CN" sz="2250" kern="100" dirty="0">
                <a:highlight>
                  <a:srgbClr val="FFFF00"/>
                </a:highlight>
                <a:latin typeface="宋体" panose="02010600030101010101" pitchFamily="2" charset="-122"/>
                <a:ea typeface="宋体" panose="02010600030101010101" pitchFamily="2" charset="-122"/>
                <a:cs typeface="Times New Roman" panose="02020603050405020304" pitchFamily="18" charset="0"/>
              </a:rPr>
              <a:t>2</a:t>
            </a:r>
            <a:r>
              <a:rPr lang="zh-CN" altLang="en-US" sz="2250" kern="100" dirty="0">
                <a:highlight>
                  <a:srgbClr val="FFFF00"/>
                </a:highlight>
                <a:latin typeface="宋体" panose="02010600030101010101" pitchFamily="2" charset="-122"/>
                <a:ea typeface="宋体" panose="02010600030101010101" pitchFamily="2" charset="-122"/>
                <a:cs typeface="Times New Roman" panose="02020603050405020304" pitchFamily="18" charset="0"/>
              </a:rPr>
              <a:t>串口，</a:t>
            </a:r>
            <a:endParaRPr lang="en-US" altLang="zh-CN" sz="2250" kern="100" dirty="0">
              <a:highlight>
                <a:srgbClr val="FFFF00"/>
              </a:highlight>
              <a:latin typeface="宋体" panose="02010600030101010101" pitchFamily="2" charset="-122"/>
              <a:ea typeface="宋体" panose="02010600030101010101" pitchFamily="2" charset="-122"/>
              <a:cs typeface="Times New Roman" panose="02020603050405020304" pitchFamily="18" charset="0"/>
            </a:endParaRPr>
          </a:p>
          <a:p>
            <a:pPr marR="0" lvl="0" algn="just">
              <a:spcBef>
                <a:spcPts val="0"/>
              </a:spcBef>
              <a:spcAft>
                <a:spcPts val="0"/>
              </a:spcAft>
            </a:pPr>
            <a:endParaRPr lang="en-US" altLang="zh-CN" sz="2250" kern="100" dirty="0">
              <a:latin typeface="宋体" panose="02010600030101010101" pitchFamily="2" charset="-122"/>
              <a:ea typeface="宋体" panose="02010600030101010101" pitchFamily="2" charset="-122"/>
              <a:cs typeface="Times New Roman" panose="02020603050405020304" pitchFamily="18" charset="0"/>
            </a:endParaRPr>
          </a:p>
          <a:p>
            <a:pPr marR="0" lvl="0" algn="just">
              <a:spcBef>
                <a:spcPts val="0"/>
              </a:spcBef>
              <a:spcAft>
                <a:spcPts val="0"/>
              </a:spcAft>
            </a:pPr>
            <a:r>
              <a:rPr lang="en-US" altLang="zh-CN" sz="2250" kern="100" dirty="0">
                <a:latin typeface="宋体" panose="02010600030101010101" pitchFamily="2" charset="-122"/>
                <a:ea typeface="宋体" panose="02010600030101010101" pitchFamily="2" charset="-122"/>
                <a:cs typeface="Times New Roman" panose="02020603050405020304" pitchFamily="18" charset="0"/>
              </a:rPr>
              <a:t>6.</a:t>
            </a: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显示面板：简单且操作性强。</a:t>
            </a:r>
          </a:p>
          <a:p>
            <a:pPr marL="342900" marR="0" lvl="0" indent="-342900" algn="just">
              <a:spcBef>
                <a:spcPts val="0"/>
              </a:spcBef>
              <a:spcAft>
                <a:spcPts val="0"/>
              </a:spcAft>
              <a:buFont typeface="Times New Roman" panose="02020603050405020304" pitchFamily="18" charset="0"/>
              <a:buAutoNum type="arabicParenR"/>
            </a:pP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控制面板可现实各功能模块运行状态，具备报错功能，显示故障信息；</a:t>
            </a:r>
          </a:p>
          <a:p>
            <a:pPr marL="342900" marR="0" lvl="0" indent="-342900" algn="just">
              <a:spcBef>
                <a:spcPts val="0"/>
              </a:spcBef>
              <a:spcAft>
                <a:spcPts val="0"/>
              </a:spcAft>
              <a:buFont typeface="Times New Roman" panose="02020603050405020304" pitchFamily="18" charset="0"/>
              <a:buAutoNum type="arabicParenR"/>
            </a:pP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能够实时展示当前检测零件的图像及检测结果，</a:t>
            </a:r>
            <a:r>
              <a:rPr lang="en-US" altLang="zh-CN" sz="2250" kern="100" dirty="0">
                <a:latin typeface="宋体" panose="02010600030101010101" pitchFamily="2" charset="-122"/>
                <a:ea typeface="宋体" panose="02010600030101010101" pitchFamily="2" charset="-122"/>
                <a:cs typeface="Times New Roman" panose="02020603050405020304" pitchFamily="18" charset="0"/>
              </a:rPr>
              <a:t>NG </a:t>
            </a: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 </a:t>
            </a:r>
            <a:r>
              <a:rPr lang="en-US" altLang="zh-CN" sz="2250" kern="100" dirty="0">
                <a:latin typeface="宋体" panose="02010600030101010101" pitchFamily="2" charset="-122"/>
                <a:ea typeface="宋体" panose="02010600030101010101" pitchFamily="2" charset="-122"/>
                <a:cs typeface="Times New Roman" panose="02020603050405020304" pitchFamily="18" charset="0"/>
              </a:rPr>
              <a:t>OK</a:t>
            </a: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或待判定；</a:t>
            </a:r>
          </a:p>
          <a:p>
            <a:pPr marL="342900" marR="0" lvl="0" indent="-342900" algn="just">
              <a:spcBef>
                <a:spcPts val="0"/>
              </a:spcBef>
              <a:spcAft>
                <a:spcPts val="0"/>
              </a:spcAft>
              <a:buFont typeface="Times New Roman" panose="02020603050405020304" pitchFamily="18" charset="0"/>
              <a:buAutoNum type="arabicParenR"/>
            </a:pP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能够实时展示零件基础信息、检测项目、设定参数、缺陷类型等；</a:t>
            </a:r>
          </a:p>
          <a:p>
            <a:pPr marL="342900" marR="0" lvl="0" indent="-342900" algn="just">
              <a:spcBef>
                <a:spcPts val="0"/>
              </a:spcBef>
              <a:spcAft>
                <a:spcPts val="0"/>
              </a:spcAft>
              <a:buFont typeface="Times New Roman" panose="02020603050405020304" pitchFamily="18" charset="0"/>
              <a:buAutoNum type="arabicParenR"/>
            </a:pP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操作界面为全中文界面；</a:t>
            </a:r>
          </a:p>
          <a:p>
            <a:pPr marL="342900" marR="0" lvl="0" indent="-342900" algn="just">
              <a:spcBef>
                <a:spcPts val="0"/>
              </a:spcBef>
              <a:spcAft>
                <a:spcPts val="0"/>
              </a:spcAft>
              <a:buFont typeface="Times New Roman" panose="02020603050405020304" pitchFamily="18" charset="0"/>
              <a:buAutoNum type="arabicParenR"/>
            </a:pP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提供简单易懂的操作界面，确保非技术人员能够快速掌握，无需代码类专业知识。</a:t>
            </a:r>
            <a:endParaRPr lang="en-US" altLang="zh-CN" sz="2250" kern="100" dirty="0">
              <a:latin typeface="宋体" panose="02010600030101010101" pitchFamily="2" charset="-122"/>
              <a:ea typeface="宋体" panose="02010600030101010101" pitchFamily="2" charset="-122"/>
              <a:cs typeface="Times New Roman" panose="02020603050405020304" pitchFamily="18" charset="0"/>
            </a:endParaRPr>
          </a:p>
          <a:p>
            <a:pPr marR="0" lvl="0" algn="just">
              <a:spcBef>
                <a:spcPts val="0"/>
              </a:spcBef>
              <a:spcAft>
                <a:spcPts val="0"/>
              </a:spcAft>
            </a:pPr>
            <a:endParaRPr lang="zh-CN" altLang="en-US" sz="2250" kern="100" dirty="0">
              <a:latin typeface="宋体" panose="02010600030101010101" pitchFamily="2" charset="-122"/>
              <a:ea typeface="宋体" panose="02010600030101010101" pitchFamily="2" charset="-122"/>
              <a:cs typeface="Times New Roman" panose="02020603050405020304" pitchFamily="18" charset="0"/>
            </a:endParaRPr>
          </a:p>
          <a:p>
            <a:pPr marR="0" lvl="0" algn="just">
              <a:spcBef>
                <a:spcPts val="0"/>
              </a:spcBef>
              <a:spcAft>
                <a:spcPts val="0"/>
              </a:spcAft>
            </a:pPr>
            <a:r>
              <a:rPr lang="en-US" altLang="zh-CN" sz="2250" kern="100" dirty="0">
                <a:latin typeface="宋体" panose="02010600030101010101" pitchFamily="2" charset="-122"/>
                <a:ea typeface="宋体" panose="02010600030101010101" pitchFamily="2" charset="-122"/>
                <a:cs typeface="Times New Roman" panose="02020603050405020304" pitchFamily="18" charset="0"/>
              </a:rPr>
              <a:t>7.</a:t>
            </a: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异常报警：设备识别异常后，应安全方式自行停机并锁定状态，以进行声、光、电等报警方式实现报警，等待人员处理。</a:t>
            </a:r>
            <a:endParaRPr lang="en-US" altLang="zh-CN" sz="2250" kern="100" dirty="0">
              <a:latin typeface="宋体" panose="02010600030101010101" pitchFamily="2" charset="-122"/>
              <a:ea typeface="宋体" panose="02010600030101010101" pitchFamily="2" charset="-122"/>
              <a:cs typeface="Times New Roman" panose="02020603050405020304" pitchFamily="18" charset="0"/>
            </a:endParaRPr>
          </a:p>
          <a:p>
            <a:pPr marR="0" lvl="0" algn="just">
              <a:spcBef>
                <a:spcPts val="0"/>
              </a:spcBef>
              <a:spcAft>
                <a:spcPts val="0"/>
              </a:spcAft>
            </a:pPr>
            <a:endParaRPr lang="zh-CN" altLang="en-US" sz="2250" kern="100" dirty="0">
              <a:latin typeface="宋体" panose="02010600030101010101" pitchFamily="2" charset="-122"/>
              <a:ea typeface="宋体" panose="02010600030101010101" pitchFamily="2" charset="-122"/>
              <a:cs typeface="Times New Roman" panose="02020603050405020304" pitchFamily="18" charset="0"/>
            </a:endParaRPr>
          </a:p>
          <a:p>
            <a:pPr marR="0" lvl="0" algn="just">
              <a:spcBef>
                <a:spcPts val="0"/>
              </a:spcBef>
              <a:spcAft>
                <a:spcPts val="0"/>
              </a:spcAft>
            </a:pPr>
            <a:r>
              <a:rPr lang="en-US" altLang="zh-CN" sz="2250" kern="100" dirty="0">
                <a:latin typeface="宋体" panose="02010600030101010101" pitchFamily="2" charset="-122"/>
                <a:ea typeface="宋体" panose="02010600030101010101" pitchFamily="2" charset="-122"/>
                <a:cs typeface="Times New Roman" panose="02020603050405020304" pitchFamily="18" charset="0"/>
              </a:rPr>
              <a:t>8.</a:t>
            </a: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记录生产过程信息，当前物料型号、生产工序、物料编号、生产数量、前期生产记录、设备异常记录等相关信息。</a:t>
            </a:r>
          </a:p>
          <a:p>
            <a:pPr marL="0" marR="0" algn="just">
              <a:spcBef>
                <a:spcPts val="0"/>
              </a:spcBef>
              <a:spcAft>
                <a:spcPts val="0"/>
              </a:spcAft>
            </a:pP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数据传输：设备应具备通信功能，具备</a:t>
            </a:r>
            <a:r>
              <a:rPr lang="en-US" altLang="zh-CN" sz="2250" kern="100" dirty="0">
                <a:latin typeface="宋体" panose="02010600030101010101" pitchFamily="2" charset="-122"/>
                <a:ea typeface="宋体" panose="02010600030101010101" pitchFamily="2" charset="-122"/>
                <a:cs typeface="Times New Roman" panose="02020603050405020304" pitchFamily="18" charset="0"/>
              </a:rPr>
              <a:t>TCP/IP</a:t>
            </a: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a:t>
            </a:r>
            <a:r>
              <a:rPr lang="en-US" altLang="zh-CN" sz="2250" kern="100" dirty="0">
                <a:latin typeface="宋体" panose="02010600030101010101" pitchFamily="2" charset="-122"/>
                <a:ea typeface="宋体" panose="02010600030101010101" pitchFamily="2" charset="-122"/>
                <a:cs typeface="Times New Roman" panose="02020603050405020304" pitchFamily="18" charset="0"/>
              </a:rPr>
              <a:t>RS232</a:t>
            </a: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通讯功能，设备定制连接到</a:t>
            </a:r>
            <a:r>
              <a:rPr lang="en-US" altLang="zh-CN" sz="2250" kern="100" dirty="0">
                <a:latin typeface="宋体" panose="02010600030101010101" pitchFamily="2" charset="-122"/>
                <a:ea typeface="宋体" panose="02010600030101010101" pitchFamily="2" charset="-122"/>
                <a:cs typeface="Times New Roman" panose="02020603050405020304" pitchFamily="18" charset="0"/>
              </a:rPr>
              <a:t>MES</a:t>
            </a:r>
            <a:r>
              <a:rPr lang="zh-CN" altLang="en-US" sz="2250" kern="100" dirty="0">
                <a:latin typeface="宋体" panose="02010600030101010101" pitchFamily="2" charset="-122"/>
                <a:ea typeface="宋体" panose="02010600030101010101" pitchFamily="2" charset="-122"/>
                <a:cs typeface="Times New Roman" panose="02020603050405020304" pitchFamily="18" charset="0"/>
              </a:rPr>
              <a:t>系统，可抓取物料型号、生产工序、物料编号、判定结果、生产数量等信息上传。</a:t>
            </a:r>
          </a:p>
          <a:p>
            <a:pPr marR="0" lvl="0" algn="just">
              <a:spcBef>
                <a:spcPts val="0"/>
              </a:spcBef>
              <a:spcAft>
                <a:spcPts val="0"/>
              </a:spcAft>
            </a:pPr>
            <a:endParaRPr lang="zh-CN" altLang="en-US" sz="2250" kern="100" dirty="0">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40986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CFDEBE20-D876-4D36-91C1-E87E92178AC0}"/>
              </a:ext>
            </a:extLst>
          </p:cNvPr>
          <p:cNvPicPr>
            <a:picLocks noChangeAspect="1"/>
          </p:cNvPicPr>
          <p:nvPr/>
        </p:nvPicPr>
        <p:blipFill>
          <a:blip r:embed="rId2"/>
          <a:stretch>
            <a:fillRect/>
          </a:stretch>
        </p:blipFill>
        <p:spPr>
          <a:xfrm>
            <a:off x="9345921" y="2027592"/>
            <a:ext cx="7602471" cy="6530215"/>
          </a:xfrm>
          <a:prstGeom prst="rect">
            <a:avLst/>
          </a:prstGeom>
        </p:spPr>
      </p:pic>
      <p:grpSp>
        <p:nvGrpSpPr>
          <p:cNvPr id="2" name="Group 2"/>
          <p:cNvGrpSpPr/>
          <p:nvPr/>
        </p:nvGrpSpPr>
        <p:grpSpPr>
          <a:xfrm>
            <a:off x="2743200" y="596265"/>
            <a:ext cx="4201795" cy="959485"/>
            <a:chOff x="0" y="0"/>
            <a:chExt cx="5868000" cy="1279444"/>
          </a:xfrm>
          <a:solidFill>
            <a:srgbClr val="133970"/>
          </a:solidFill>
        </p:grpSpPr>
        <p:sp>
          <p:nvSpPr>
            <p:cNvPr id="3" name="Freeform 3"/>
            <p:cNvSpPr/>
            <p:nvPr/>
          </p:nvSpPr>
          <p:spPr>
            <a:xfrm>
              <a:off x="0" y="0"/>
              <a:ext cx="5868035" cy="1279398"/>
            </a:xfrm>
            <a:custGeom>
              <a:avLst/>
              <a:gdLst/>
              <a:ahLst/>
              <a:cxnLst/>
              <a:rect l="l" t="t" r="r" b="b"/>
              <a:pathLst>
                <a:path w="5868035" h="1279398">
                  <a:moveTo>
                    <a:pt x="0" y="0"/>
                  </a:moveTo>
                  <a:lnTo>
                    <a:pt x="5868035" y="0"/>
                  </a:lnTo>
                  <a:lnTo>
                    <a:pt x="5868035" y="1279398"/>
                  </a:lnTo>
                  <a:lnTo>
                    <a:pt x="0" y="1279398"/>
                  </a:lnTo>
                  <a:close/>
                </a:path>
              </a:pathLst>
            </a:custGeom>
            <a:grpFill/>
          </p:spPr>
          <p:txBody>
            <a:bodyPr/>
            <a:lstStyle/>
            <a:p>
              <a:endParaRPr lang="zh-CN" altLang="en-US" dirty="0">
                <a:latin typeface="Times New Roman" panose="02020603050405020304" charset="0"/>
                <a:cs typeface="Times New Roman" panose="02020603050405020304" charset="0"/>
              </a:endParaRPr>
            </a:p>
          </p:txBody>
        </p:sp>
      </p:grpSp>
      <p:sp>
        <p:nvSpPr>
          <p:cNvPr id="4" name="TextBox 4"/>
          <p:cNvSpPr txBox="1"/>
          <p:nvPr/>
        </p:nvSpPr>
        <p:spPr>
          <a:xfrm>
            <a:off x="2895600" y="800100"/>
            <a:ext cx="3733800" cy="589915"/>
          </a:xfrm>
          <a:prstGeom prst="rect">
            <a:avLst/>
          </a:prstGeom>
        </p:spPr>
        <p:txBody>
          <a:bodyPr wrap="square" lIns="0" tIns="0" rIns="0" bIns="0" rtlCol="0" anchor="t">
            <a:noAutofit/>
          </a:bodyPr>
          <a:lstStyle/>
          <a:p>
            <a:pPr>
              <a:lnSpc>
                <a:spcPts val="4320"/>
              </a:lnSpc>
            </a:pPr>
            <a:r>
              <a:rPr lang="zh-CN" altLang="en-US" sz="3600" spc="194" dirty="0">
                <a:solidFill>
                  <a:schemeClr val="bg1"/>
                </a:solidFill>
                <a:latin typeface="Times New Roman" panose="02020603050405020304" charset="0"/>
                <a:ea typeface="微软雅黑" panose="020B0503020204020204" charset="-122"/>
                <a:cs typeface="字由点字典黑 65J Bold" panose="00020600040101010101" charset="-122"/>
                <a:sym typeface="+mn-ea"/>
              </a:rPr>
              <a:t>整体方案设计</a:t>
            </a:r>
          </a:p>
        </p:txBody>
      </p:sp>
      <p:grpSp>
        <p:nvGrpSpPr>
          <p:cNvPr id="33" name="Group 26"/>
          <p:cNvGrpSpPr/>
          <p:nvPr/>
        </p:nvGrpSpPr>
        <p:grpSpPr>
          <a:xfrm>
            <a:off x="0" y="1378974"/>
            <a:ext cx="2452685" cy="176473"/>
            <a:chOff x="0" y="0"/>
            <a:chExt cx="2364602" cy="170135"/>
          </a:xfrm>
          <a:solidFill>
            <a:srgbClr val="133970"/>
          </a:solidFill>
        </p:grpSpPr>
        <p:sp>
          <p:nvSpPr>
            <p:cNvPr id="34" name="Freeform 27"/>
            <p:cNvSpPr/>
            <p:nvPr/>
          </p:nvSpPr>
          <p:spPr>
            <a:xfrm>
              <a:off x="0" y="0"/>
              <a:ext cx="2364621" cy="170129"/>
            </a:xfrm>
            <a:custGeom>
              <a:avLst/>
              <a:gdLst/>
              <a:ahLst/>
              <a:cxnLst/>
              <a:rect l="l" t="t" r="r" b="b"/>
              <a:pathLst>
                <a:path w="2364621" h="170129">
                  <a:moveTo>
                    <a:pt x="0" y="0"/>
                  </a:moveTo>
                  <a:lnTo>
                    <a:pt x="2364621" y="0"/>
                  </a:lnTo>
                  <a:lnTo>
                    <a:pt x="2364621" y="170129"/>
                  </a:lnTo>
                  <a:lnTo>
                    <a:pt x="0" y="170129"/>
                  </a:lnTo>
                  <a:close/>
                </a:path>
              </a:pathLst>
            </a:custGeom>
            <a:grpFill/>
          </p:spPr>
        </p:sp>
      </p:grpSp>
      <p:sp>
        <p:nvSpPr>
          <p:cNvPr id="37" name="TextBox 35"/>
          <p:cNvSpPr txBox="1"/>
          <p:nvPr/>
        </p:nvSpPr>
        <p:spPr>
          <a:xfrm>
            <a:off x="970304" y="161962"/>
            <a:ext cx="1840527" cy="1661795"/>
          </a:xfrm>
          <a:prstGeom prst="rect">
            <a:avLst/>
          </a:prstGeom>
        </p:spPr>
        <p:txBody>
          <a:bodyPr lIns="0" tIns="0" rIns="0" bIns="0" rtlCol="0" anchor="t">
            <a:spAutoFit/>
          </a:bodyPr>
          <a:lstStyle/>
          <a:p>
            <a:pPr>
              <a:lnSpc>
                <a:spcPts val="12960"/>
              </a:lnSpc>
            </a:pPr>
            <a:r>
              <a:rPr lang="en-US" sz="10800" b="1" dirty="0">
                <a:solidFill>
                  <a:srgbClr val="000000"/>
                </a:solidFill>
                <a:latin typeface="Times New Roman" panose="02020603050405020304" charset="0"/>
                <a:ea typeface="Arimo Bold" panose="020B0704020202020204"/>
                <a:cs typeface="Times New Roman" panose="02020603050405020304" charset="0"/>
                <a:sym typeface="Arimo Bold" panose="020B0704020202020204"/>
              </a:rPr>
              <a:t>02</a:t>
            </a:r>
          </a:p>
        </p:txBody>
      </p:sp>
      <p:pic>
        <p:nvPicPr>
          <p:cNvPr id="5" name="图片 4" descr="资源 12xxxhdpi"/>
          <p:cNvPicPr>
            <a:picLocks noChangeAspect="1"/>
          </p:cNvPicPr>
          <p:nvPr/>
        </p:nvPicPr>
        <p:blipFill>
          <a:blip r:embed="rId3"/>
          <a:stretch>
            <a:fillRect/>
          </a:stretch>
        </p:blipFill>
        <p:spPr>
          <a:xfrm>
            <a:off x="16306800" y="114300"/>
            <a:ext cx="1841500" cy="467360"/>
          </a:xfrm>
          <a:prstGeom prst="rect">
            <a:avLst/>
          </a:prstGeom>
        </p:spPr>
      </p:pic>
      <p:sp>
        <p:nvSpPr>
          <p:cNvPr id="21" name="矩形 20"/>
          <p:cNvSpPr/>
          <p:nvPr/>
        </p:nvSpPr>
        <p:spPr>
          <a:xfrm>
            <a:off x="0" y="9898380"/>
            <a:ext cx="18288000" cy="380365"/>
          </a:xfrm>
          <a:prstGeom prst="rect">
            <a:avLst/>
          </a:prstGeom>
          <a:solidFill>
            <a:srgbClr val="114B82">
              <a:alpha val="78000"/>
            </a:srgb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latin typeface="Times New Roman" panose="02020603050405020304" charset="0"/>
              <a:cs typeface="Times New Roman" panose="02020603050405020304" charset="0"/>
            </a:endParaRPr>
          </a:p>
        </p:txBody>
      </p:sp>
      <p:sp>
        <p:nvSpPr>
          <p:cNvPr id="22" name="矩形 21"/>
          <p:cNvSpPr/>
          <p:nvPr/>
        </p:nvSpPr>
        <p:spPr>
          <a:xfrm flipV="1">
            <a:off x="7759700" y="-5080"/>
            <a:ext cx="10546715" cy="119380"/>
          </a:xfrm>
          <a:prstGeom prst="rect">
            <a:avLst/>
          </a:prstGeom>
          <a:solidFill>
            <a:srgbClr val="D6001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latin typeface="Times New Roman" panose="02020603050405020304" charset="0"/>
              <a:cs typeface="Times New Roman" panose="02020603050405020304" charset="0"/>
            </a:endParaRPr>
          </a:p>
        </p:txBody>
      </p:sp>
      <p:sp>
        <p:nvSpPr>
          <p:cNvPr id="24" name="圆角矩形标注 4">
            <a:extLst>
              <a:ext uri="{FF2B5EF4-FFF2-40B4-BE49-F238E27FC236}">
                <a16:creationId xmlns:a16="http://schemas.microsoft.com/office/drawing/2014/main" id="{0548F323-4EBE-4734-AB33-9D63D1D01439}"/>
              </a:ext>
            </a:extLst>
          </p:cNvPr>
          <p:cNvSpPr>
            <a:spLocks noChangeArrowheads="1"/>
          </p:cNvSpPr>
          <p:nvPr/>
        </p:nvSpPr>
        <p:spPr bwMode="auto">
          <a:xfrm>
            <a:off x="15738498" y="3009900"/>
            <a:ext cx="1209894" cy="456062"/>
          </a:xfrm>
          <a:prstGeom prst="wedgeRoundRectCallout">
            <a:avLst>
              <a:gd name="adj1" fmla="val -209455"/>
              <a:gd name="adj2" fmla="val 73077"/>
              <a:gd name="adj3" fmla="val 16667"/>
            </a:avLst>
          </a:prstGeom>
          <a:noFill/>
          <a:ln w="12700">
            <a:solidFill>
              <a:srgbClr val="CD1523"/>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fontAlgn="base" hangingPunct="0">
              <a:spcBef>
                <a:spcPct val="0"/>
              </a:spcBef>
              <a:spcAft>
                <a:spcPct val="0"/>
              </a:spcAft>
            </a:pPr>
            <a:r>
              <a:rPr lang="zh-CN" altLang="en-US"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产品翻转</a:t>
            </a:r>
            <a:r>
              <a:rPr lang="en-US" altLang="zh-CN"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lang="zh-CN" altLang="en-US"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移运机构</a:t>
            </a:r>
            <a:endParaRPr lang="zh-CN" altLang="zh-CN" sz="16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p:txBody>
      </p:sp>
      <p:sp>
        <p:nvSpPr>
          <p:cNvPr id="25" name="圆角矩形标注 4">
            <a:extLst>
              <a:ext uri="{FF2B5EF4-FFF2-40B4-BE49-F238E27FC236}">
                <a16:creationId xmlns:a16="http://schemas.microsoft.com/office/drawing/2014/main" id="{799EAACF-5EA2-44F9-AB02-FD0C9038B160}"/>
              </a:ext>
            </a:extLst>
          </p:cNvPr>
          <p:cNvSpPr>
            <a:spLocks noChangeArrowheads="1"/>
          </p:cNvSpPr>
          <p:nvPr/>
        </p:nvSpPr>
        <p:spPr bwMode="auto">
          <a:xfrm>
            <a:off x="8552908" y="1720072"/>
            <a:ext cx="1413510" cy="455930"/>
          </a:xfrm>
          <a:prstGeom prst="wedgeRoundRectCallout">
            <a:avLst>
              <a:gd name="adj1" fmla="val 181103"/>
              <a:gd name="adj2" fmla="val 146227"/>
              <a:gd name="adj3" fmla="val 16667"/>
            </a:avLst>
          </a:prstGeom>
          <a:noFill/>
          <a:ln w="12700">
            <a:solidFill>
              <a:srgbClr val="CD1523"/>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fontAlgn="base" hangingPunct="0">
              <a:spcBef>
                <a:spcPct val="0"/>
              </a:spcBef>
              <a:spcAft>
                <a:spcPct val="0"/>
              </a:spcAft>
            </a:pPr>
            <a:r>
              <a:rPr lang="zh-CN" altLang="en-US"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检测位</a:t>
            </a:r>
            <a:endParaRPr lang="zh-CN" altLang="zh-CN" sz="16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p:txBody>
      </p:sp>
      <p:sp>
        <p:nvSpPr>
          <p:cNvPr id="26" name="圆角矩形标注 4">
            <a:extLst>
              <a:ext uri="{FF2B5EF4-FFF2-40B4-BE49-F238E27FC236}">
                <a16:creationId xmlns:a16="http://schemas.microsoft.com/office/drawing/2014/main" id="{D8A806C8-3440-4012-A573-3179FF013703}"/>
              </a:ext>
            </a:extLst>
          </p:cNvPr>
          <p:cNvSpPr>
            <a:spLocks noChangeArrowheads="1"/>
          </p:cNvSpPr>
          <p:nvPr/>
        </p:nvSpPr>
        <p:spPr bwMode="auto">
          <a:xfrm>
            <a:off x="8539053" y="6090656"/>
            <a:ext cx="1209894" cy="456062"/>
          </a:xfrm>
          <a:prstGeom prst="wedgeRoundRectCallout">
            <a:avLst>
              <a:gd name="adj1" fmla="val 295325"/>
              <a:gd name="adj2" fmla="val -230874"/>
              <a:gd name="adj3" fmla="val 16667"/>
            </a:avLst>
          </a:prstGeom>
          <a:noFill/>
          <a:ln w="12700">
            <a:solidFill>
              <a:srgbClr val="CD1523"/>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fontAlgn="base" hangingPunct="0">
              <a:spcBef>
                <a:spcPct val="0"/>
              </a:spcBef>
              <a:spcAft>
                <a:spcPct val="0"/>
              </a:spcAft>
            </a:pPr>
            <a:r>
              <a:rPr lang="zh-CN" altLang="zh-CN"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待检产品</a:t>
            </a:r>
            <a:r>
              <a:rPr lang="zh-CN" altLang="en-US"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上料</a:t>
            </a:r>
            <a:r>
              <a:rPr lang="zh-CN" altLang="zh-CN"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位</a:t>
            </a:r>
          </a:p>
        </p:txBody>
      </p:sp>
      <p:pic>
        <p:nvPicPr>
          <p:cNvPr id="8" name="图片 7">
            <a:extLst>
              <a:ext uri="{FF2B5EF4-FFF2-40B4-BE49-F238E27FC236}">
                <a16:creationId xmlns:a16="http://schemas.microsoft.com/office/drawing/2014/main" id="{7DFBD91D-6EAC-4C17-83C9-311676E998DA}"/>
              </a:ext>
            </a:extLst>
          </p:cNvPr>
          <p:cNvPicPr>
            <a:picLocks noChangeAspect="1"/>
          </p:cNvPicPr>
          <p:nvPr/>
        </p:nvPicPr>
        <p:blipFill>
          <a:blip r:embed="rId4"/>
          <a:stretch>
            <a:fillRect/>
          </a:stretch>
        </p:blipFill>
        <p:spPr>
          <a:xfrm>
            <a:off x="937241" y="2027592"/>
            <a:ext cx="7428571" cy="7266667"/>
          </a:xfrm>
          <a:prstGeom prst="rect">
            <a:avLst/>
          </a:prstGeom>
        </p:spPr>
      </p:pic>
    </p:spTree>
    <p:extLst>
      <p:ext uri="{BB962C8B-B14F-4D97-AF65-F5344CB8AC3E}">
        <p14:creationId xmlns:p14="http://schemas.microsoft.com/office/powerpoint/2010/main" val="2176175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B9AC2C57-634B-4A80-94A3-3BE0B1C44798}"/>
              </a:ext>
            </a:extLst>
          </p:cNvPr>
          <p:cNvPicPr>
            <a:picLocks noChangeAspect="1"/>
          </p:cNvPicPr>
          <p:nvPr/>
        </p:nvPicPr>
        <p:blipFill>
          <a:blip r:embed="rId2"/>
          <a:stretch>
            <a:fillRect/>
          </a:stretch>
        </p:blipFill>
        <p:spPr>
          <a:xfrm>
            <a:off x="5015428" y="1719690"/>
            <a:ext cx="8257143" cy="6847619"/>
          </a:xfrm>
          <a:prstGeom prst="rect">
            <a:avLst/>
          </a:prstGeom>
        </p:spPr>
      </p:pic>
      <p:grpSp>
        <p:nvGrpSpPr>
          <p:cNvPr id="2" name="Group 2"/>
          <p:cNvGrpSpPr/>
          <p:nvPr/>
        </p:nvGrpSpPr>
        <p:grpSpPr>
          <a:xfrm>
            <a:off x="2743200" y="596265"/>
            <a:ext cx="4572000" cy="959485"/>
            <a:chOff x="0" y="0"/>
            <a:chExt cx="5868000" cy="1279444"/>
          </a:xfrm>
          <a:solidFill>
            <a:srgbClr val="133970"/>
          </a:solidFill>
        </p:grpSpPr>
        <p:sp>
          <p:nvSpPr>
            <p:cNvPr id="3" name="Freeform 3"/>
            <p:cNvSpPr/>
            <p:nvPr/>
          </p:nvSpPr>
          <p:spPr>
            <a:xfrm>
              <a:off x="0" y="0"/>
              <a:ext cx="5868035" cy="1279398"/>
            </a:xfrm>
            <a:custGeom>
              <a:avLst/>
              <a:gdLst/>
              <a:ahLst/>
              <a:cxnLst/>
              <a:rect l="l" t="t" r="r" b="b"/>
              <a:pathLst>
                <a:path w="5868035" h="1279398">
                  <a:moveTo>
                    <a:pt x="0" y="0"/>
                  </a:moveTo>
                  <a:lnTo>
                    <a:pt x="5868035" y="0"/>
                  </a:lnTo>
                  <a:lnTo>
                    <a:pt x="5868035" y="1279398"/>
                  </a:lnTo>
                  <a:lnTo>
                    <a:pt x="0" y="1279398"/>
                  </a:lnTo>
                  <a:close/>
                </a:path>
              </a:pathLst>
            </a:custGeom>
            <a:grpFill/>
          </p:spPr>
          <p:txBody>
            <a:bodyPr/>
            <a:lstStyle/>
            <a:p>
              <a:endParaRPr lang="zh-CN" altLang="en-US" dirty="0">
                <a:latin typeface="Times New Roman" panose="02020603050405020304" charset="0"/>
                <a:cs typeface="Times New Roman" panose="02020603050405020304" charset="0"/>
              </a:endParaRPr>
            </a:p>
          </p:txBody>
        </p:sp>
      </p:grpSp>
      <p:sp>
        <p:nvSpPr>
          <p:cNvPr id="4" name="TextBox 4"/>
          <p:cNvSpPr txBox="1"/>
          <p:nvPr/>
        </p:nvSpPr>
        <p:spPr>
          <a:xfrm>
            <a:off x="2895600" y="800100"/>
            <a:ext cx="4049420" cy="589915"/>
          </a:xfrm>
          <a:prstGeom prst="rect">
            <a:avLst/>
          </a:prstGeom>
        </p:spPr>
        <p:txBody>
          <a:bodyPr wrap="square" lIns="0" tIns="0" rIns="0" bIns="0" rtlCol="0" anchor="t">
            <a:noAutofit/>
          </a:bodyPr>
          <a:lstStyle/>
          <a:p>
            <a:pPr>
              <a:lnSpc>
                <a:spcPts val="4320"/>
              </a:lnSpc>
            </a:pPr>
            <a:r>
              <a:rPr lang="zh-CN" altLang="en-US" sz="3600" spc="194" dirty="0">
                <a:solidFill>
                  <a:schemeClr val="bg1"/>
                </a:solidFill>
                <a:latin typeface="Times New Roman" panose="02020603050405020304" charset="0"/>
                <a:ea typeface="微软雅黑" panose="020B0503020204020204" charset="-122"/>
                <a:cs typeface="字由点字典黑 65J Bold" panose="00020600040101010101" charset="-122"/>
                <a:sym typeface="+mn-ea"/>
              </a:rPr>
              <a:t>整体方案</a:t>
            </a:r>
            <a:r>
              <a:rPr lang="en-US" altLang="zh-CN" sz="3600" spc="194" dirty="0">
                <a:solidFill>
                  <a:schemeClr val="bg1"/>
                </a:solidFill>
                <a:latin typeface="Times New Roman" panose="02020603050405020304" charset="0"/>
                <a:ea typeface="微软雅黑" panose="020B0503020204020204" charset="-122"/>
                <a:cs typeface="字由点字典黑 65J Bold" panose="00020600040101010101" charset="-122"/>
                <a:sym typeface="+mn-ea"/>
              </a:rPr>
              <a:t>-</a:t>
            </a:r>
            <a:r>
              <a:rPr lang="zh-CN" altLang="en-US" sz="3600" spc="194" dirty="0">
                <a:solidFill>
                  <a:schemeClr val="bg1"/>
                </a:solidFill>
                <a:latin typeface="Times New Roman" panose="02020603050405020304" charset="0"/>
                <a:ea typeface="微软雅黑" panose="020B0503020204020204" charset="-122"/>
                <a:cs typeface="字由点字典黑 65J Bold" panose="00020600040101010101" charset="-122"/>
                <a:sym typeface="+mn-ea"/>
              </a:rPr>
              <a:t>方案说明</a:t>
            </a:r>
          </a:p>
        </p:txBody>
      </p:sp>
      <p:grpSp>
        <p:nvGrpSpPr>
          <p:cNvPr id="33" name="Group 26"/>
          <p:cNvGrpSpPr/>
          <p:nvPr/>
        </p:nvGrpSpPr>
        <p:grpSpPr>
          <a:xfrm>
            <a:off x="0" y="1378974"/>
            <a:ext cx="2452685" cy="176473"/>
            <a:chOff x="0" y="0"/>
            <a:chExt cx="2364602" cy="170135"/>
          </a:xfrm>
          <a:solidFill>
            <a:srgbClr val="133970"/>
          </a:solidFill>
        </p:grpSpPr>
        <p:sp>
          <p:nvSpPr>
            <p:cNvPr id="34" name="Freeform 27"/>
            <p:cNvSpPr/>
            <p:nvPr/>
          </p:nvSpPr>
          <p:spPr>
            <a:xfrm>
              <a:off x="0" y="0"/>
              <a:ext cx="2364621" cy="170129"/>
            </a:xfrm>
            <a:custGeom>
              <a:avLst/>
              <a:gdLst/>
              <a:ahLst/>
              <a:cxnLst/>
              <a:rect l="l" t="t" r="r" b="b"/>
              <a:pathLst>
                <a:path w="2364621" h="170129">
                  <a:moveTo>
                    <a:pt x="0" y="0"/>
                  </a:moveTo>
                  <a:lnTo>
                    <a:pt x="2364621" y="0"/>
                  </a:lnTo>
                  <a:lnTo>
                    <a:pt x="2364621" y="170129"/>
                  </a:lnTo>
                  <a:lnTo>
                    <a:pt x="0" y="170129"/>
                  </a:lnTo>
                  <a:close/>
                </a:path>
              </a:pathLst>
            </a:custGeom>
            <a:grpFill/>
          </p:spPr>
        </p:sp>
      </p:grpSp>
      <p:sp>
        <p:nvSpPr>
          <p:cNvPr id="37" name="TextBox 35"/>
          <p:cNvSpPr txBox="1"/>
          <p:nvPr/>
        </p:nvSpPr>
        <p:spPr>
          <a:xfrm>
            <a:off x="970304" y="161962"/>
            <a:ext cx="1840527" cy="1661795"/>
          </a:xfrm>
          <a:prstGeom prst="rect">
            <a:avLst/>
          </a:prstGeom>
        </p:spPr>
        <p:txBody>
          <a:bodyPr lIns="0" tIns="0" rIns="0" bIns="0" rtlCol="0" anchor="t">
            <a:spAutoFit/>
          </a:bodyPr>
          <a:lstStyle/>
          <a:p>
            <a:pPr>
              <a:lnSpc>
                <a:spcPts val="12960"/>
              </a:lnSpc>
            </a:pPr>
            <a:r>
              <a:rPr lang="en-US" sz="10800" b="1" dirty="0">
                <a:solidFill>
                  <a:srgbClr val="000000"/>
                </a:solidFill>
                <a:latin typeface="Times New Roman" panose="02020603050405020304" charset="0"/>
                <a:ea typeface="Arimo Bold" panose="020B0704020202020204"/>
                <a:cs typeface="Times New Roman" panose="02020603050405020304" charset="0"/>
                <a:sym typeface="Arimo Bold" panose="020B0704020202020204"/>
              </a:rPr>
              <a:t>02</a:t>
            </a:r>
          </a:p>
        </p:txBody>
      </p:sp>
      <p:pic>
        <p:nvPicPr>
          <p:cNvPr id="5" name="图片 4" descr="资源 12xxxhdpi"/>
          <p:cNvPicPr>
            <a:picLocks noChangeAspect="1"/>
          </p:cNvPicPr>
          <p:nvPr/>
        </p:nvPicPr>
        <p:blipFill>
          <a:blip r:embed="rId3"/>
          <a:stretch>
            <a:fillRect/>
          </a:stretch>
        </p:blipFill>
        <p:spPr>
          <a:xfrm>
            <a:off x="16306800" y="114300"/>
            <a:ext cx="1841500" cy="467360"/>
          </a:xfrm>
          <a:prstGeom prst="rect">
            <a:avLst/>
          </a:prstGeom>
        </p:spPr>
      </p:pic>
      <p:sp>
        <p:nvSpPr>
          <p:cNvPr id="21" name="矩形 20"/>
          <p:cNvSpPr/>
          <p:nvPr/>
        </p:nvSpPr>
        <p:spPr>
          <a:xfrm>
            <a:off x="0" y="9898380"/>
            <a:ext cx="18288000" cy="380365"/>
          </a:xfrm>
          <a:prstGeom prst="rect">
            <a:avLst/>
          </a:prstGeom>
          <a:solidFill>
            <a:srgbClr val="114B82">
              <a:alpha val="78000"/>
            </a:srgb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latin typeface="Times New Roman" panose="02020603050405020304" charset="0"/>
              <a:cs typeface="Times New Roman" panose="02020603050405020304" charset="0"/>
            </a:endParaRPr>
          </a:p>
        </p:txBody>
      </p:sp>
      <p:sp>
        <p:nvSpPr>
          <p:cNvPr id="22" name="矩形 21"/>
          <p:cNvSpPr/>
          <p:nvPr/>
        </p:nvSpPr>
        <p:spPr>
          <a:xfrm flipV="1">
            <a:off x="7759700" y="-5080"/>
            <a:ext cx="10546715" cy="119380"/>
          </a:xfrm>
          <a:prstGeom prst="rect">
            <a:avLst/>
          </a:prstGeom>
          <a:solidFill>
            <a:srgbClr val="D6001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latin typeface="Times New Roman" panose="02020603050405020304" charset="0"/>
              <a:cs typeface="Times New Roman" panose="02020603050405020304" charset="0"/>
            </a:endParaRPr>
          </a:p>
        </p:txBody>
      </p:sp>
      <p:sp>
        <p:nvSpPr>
          <p:cNvPr id="17" name="圆角矩形标注 4">
            <a:extLst>
              <a:ext uri="{FF2B5EF4-FFF2-40B4-BE49-F238E27FC236}">
                <a16:creationId xmlns:a16="http://schemas.microsoft.com/office/drawing/2014/main" id="{4C6DF38B-5588-44DD-A60E-9D22190F3302}"/>
              </a:ext>
            </a:extLst>
          </p:cNvPr>
          <p:cNvSpPr>
            <a:spLocks noChangeArrowheads="1"/>
          </p:cNvSpPr>
          <p:nvPr/>
        </p:nvSpPr>
        <p:spPr bwMode="auto">
          <a:xfrm>
            <a:off x="13113687" y="2914710"/>
            <a:ext cx="1209894" cy="456062"/>
          </a:xfrm>
          <a:prstGeom prst="wedgeRoundRectCallout">
            <a:avLst>
              <a:gd name="adj1" fmla="val -291955"/>
              <a:gd name="adj2" fmla="val 138099"/>
              <a:gd name="adj3" fmla="val 16667"/>
            </a:avLst>
          </a:prstGeom>
          <a:noFill/>
          <a:ln w="12700">
            <a:solidFill>
              <a:srgbClr val="CD1523"/>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fontAlgn="base" hangingPunct="0">
              <a:spcBef>
                <a:spcPct val="0"/>
              </a:spcBef>
              <a:spcAft>
                <a:spcPct val="0"/>
              </a:spcAft>
            </a:pPr>
            <a:r>
              <a:rPr lang="zh-CN" altLang="en-US"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多品种夹具互换位</a:t>
            </a:r>
            <a:endParaRPr lang="zh-CN" altLang="zh-CN" sz="16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p:txBody>
      </p:sp>
      <p:sp>
        <p:nvSpPr>
          <p:cNvPr id="18" name="圆角矩形标注 4">
            <a:extLst>
              <a:ext uri="{FF2B5EF4-FFF2-40B4-BE49-F238E27FC236}">
                <a16:creationId xmlns:a16="http://schemas.microsoft.com/office/drawing/2014/main" id="{91C59591-7EB6-475A-85FD-6080C600E5AA}"/>
              </a:ext>
            </a:extLst>
          </p:cNvPr>
          <p:cNvSpPr>
            <a:spLocks noChangeArrowheads="1"/>
          </p:cNvSpPr>
          <p:nvPr/>
        </p:nvSpPr>
        <p:spPr bwMode="auto">
          <a:xfrm>
            <a:off x="13113687" y="2021144"/>
            <a:ext cx="1209894" cy="456062"/>
          </a:xfrm>
          <a:prstGeom prst="wedgeRoundRectCallout">
            <a:avLst>
              <a:gd name="adj1" fmla="val -219681"/>
              <a:gd name="adj2" fmla="val 25799"/>
              <a:gd name="adj3" fmla="val 16667"/>
            </a:avLst>
          </a:prstGeom>
          <a:noFill/>
          <a:ln w="12700">
            <a:solidFill>
              <a:srgbClr val="CD1523"/>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fontAlgn="base" hangingPunct="0">
              <a:spcBef>
                <a:spcPct val="0"/>
              </a:spcBef>
              <a:spcAft>
                <a:spcPct val="0"/>
              </a:spcAft>
            </a:pPr>
            <a:r>
              <a:rPr lang="zh-CN" altLang="en-US"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产品移动模组</a:t>
            </a:r>
            <a:endParaRPr lang="zh-CN" altLang="zh-CN" sz="16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p:txBody>
      </p:sp>
      <p:sp>
        <p:nvSpPr>
          <p:cNvPr id="19" name="圆角矩形标注 4">
            <a:extLst>
              <a:ext uri="{FF2B5EF4-FFF2-40B4-BE49-F238E27FC236}">
                <a16:creationId xmlns:a16="http://schemas.microsoft.com/office/drawing/2014/main" id="{A8535705-44B2-47C3-AA77-990BD029A4BF}"/>
              </a:ext>
            </a:extLst>
          </p:cNvPr>
          <p:cNvSpPr>
            <a:spLocks noChangeArrowheads="1"/>
          </p:cNvSpPr>
          <p:nvPr/>
        </p:nvSpPr>
        <p:spPr bwMode="auto">
          <a:xfrm>
            <a:off x="13165085" y="4908831"/>
            <a:ext cx="1209894" cy="456062"/>
          </a:xfrm>
          <a:prstGeom prst="wedgeRoundRectCallout">
            <a:avLst>
              <a:gd name="adj1" fmla="val -117241"/>
              <a:gd name="adj2" fmla="val -261329"/>
              <a:gd name="adj3" fmla="val 16667"/>
            </a:avLst>
          </a:prstGeom>
          <a:noFill/>
          <a:ln w="12700">
            <a:solidFill>
              <a:srgbClr val="CD1523"/>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fontAlgn="base" hangingPunct="0">
              <a:spcBef>
                <a:spcPct val="0"/>
              </a:spcBef>
              <a:spcAft>
                <a:spcPct val="0"/>
              </a:spcAft>
            </a:pPr>
            <a:r>
              <a:rPr lang="zh-CN" altLang="en-US"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二维码检测位</a:t>
            </a:r>
            <a:endParaRPr lang="zh-CN" altLang="zh-CN" sz="16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p:txBody>
      </p:sp>
      <p:sp>
        <p:nvSpPr>
          <p:cNvPr id="27" name="圆角矩形标注 4">
            <a:extLst>
              <a:ext uri="{FF2B5EF4-FFF2-40B4-BE49-F238E27FC236}">
                <a16:creationId xmlns:a16="http://schemas.microsoft.com/office/drawing/2014/main" id="{F6A996B4-1ADB-4200-9C68-AA41D154B829}"/>
              </a:ext>
            </a:extLst>
          </p:cNvPr>
          <p:cNvSpPr>
            <a:spLocks noChangeArrowheads="1"/>
          </p:cNvSpPr>
          <p:nvPr/>
        </p:nvSpPr>
        <p:spPr bwMode="auto">
          <a:xfrm>
            <a:off x="3308292" y="2393743"/>
            <a:ext cx="1209675" cy="654685"/>
          </a:xfrm>
          <a:prstGeom prst="wedgeRoundRectCallout">
            <a:avLst>
              <a:gd name="adj1" fmla="val 286803"/>
              <a:gd name="adj2" fmla="val 221449"/>
              <a:gd name="adj3" fmla="val 16667"/>
            </a:avLst>
          </a:prstGeom>
          <a:noFill/>
          <a:ln w="12700">
            <a:solidFill>
              <a:srgbClr val="CD1523"/>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fontAlgn="base" hangingPunct="0">
              <a:spcBef>
                <a:spcPct val="0"/>
              </a:spcBef>
              <a:spcAft>
                <a:spcPct val="0"/>
              </a:spcAft>
            </a:pPr>
            <a:r>
              <a:rPr lang="zh-CN" altLang="en-US"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检测位</a:t>
            </a:r>
            <a:endParaRPr lang="zh-CN" altLang="zh-CN" sz="16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p:txBody>
      </p:sp>
      <p:sp>
        <p:nvSpPr>
          <p:cNvPr id="29" name="圆角矩形标注 4">
            <a:extLst>
              <a:ext uri="{FF2B5EF4-FFF2-40B4-BE49-F238E27FC236}">
                <a16:creationId xmlns:a16="http://schemas.microsoft.com/office/drawing/2014/main" id="{AD43350A-49D1-42FC-A4E8-EA12F5E99C20}"/>
              </a:ext>
            </a:extLst>
          </p:cNvPr>
          <p:cNvSpPr>
            <a:spLocks noChangeArrowheads="1"/>
          </p:cNvSpPr>
          <p:nvPr/>
        </p:nvSpPr>
        <p:spPr bwMode="auto">
          <a:xfrm>
            <a:off x="13335000" y="5810653"/>
            <a:ext cx="1209894" cy="456062"/>
          </a:xfrm>
          <a:prstGeom prst="wedgeRoundRectCallout">
            <a:avLst>
              <a:gd name="adj1" fmla="val -322271"/>
              <a:gd name="adj2" fmla="val -262899"/>
              <a:gd name="adj3" fmla="val 16667"/>
            </a:avLst>
          </a:prstGeom>
          <a:noFill/>
          <a:ln w="12700">
            <a:solidFill>
              <a:srgbClr val="CD1523"/>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fontAlgn="base" hangingPunct="0">
              <a:spcBef>
                <a:spcPct val="0"/>
              </a:spcBef>
              <a:spcAft>
                <a:spcPct val="0"/>
              </a:spcAft>
            </a:pPr>
            <a:r>
              <a:rPr lang="zh-CN" altLang="en-US"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仿形料盘</a:t>
            </a:r>
            <a:endParaRPr lang="zh-CN" altLang="zh-CN" sz="16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p:txBody>
      </p:sp>
      <p:sp>
        <p:nvSpPr>
          <p:cNvPr id="23" name="圆角矩形标注 4">
            <a:extLst>
              <a:ext uri="{FF2B5EF4-FFF2-40B4-BE49-F238E27FC236}">
                <a16:creationId xmlns:a16="http://schemas.microsoft.com/office/drawing/2014/main" id="{CE4E056A-30C8-4226-84E2-B4A5F26830FD}"/>
              </a:ext>
            </a:extLst>
          </p:cNvPr>
          <p:cNvSpPr>
            <a:spLocks noChangeArrowheads="1"/>
          </p:cNvSpPr>
          <p:nvPr/>
        </p:nvSpPr>
        <p:spPr bwMode="auto">
          <a:xfrm>
            <a:off x="3359471" y="6452062"/>
            <a:ext cx="1209894" cy="456062"/>
          </a:xfrm>
          <a:prstGeom prst="wedgeRoundRectCallout">
            <a:avLst>
              <a:gd name="adj1" fmla="val 346526"/>
              <a:gd name="adj2" fmla="val -130701"/>
              <a:gd name="adj3" fmla="val 16667"/>
            </a:avLst>
          </a:prstGeom>
          <a:noFill/>
          <a:ln w="12700">
            <a:solidFill>
              <a:srgbClr val="CD1523"/>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fontAlgn="base" hangingPunct="0">
              <a:spcBef>
                <a:spcPct val="0"/>
              </a:spcBef>
              <a:spcAft>
                <a:spcPct val="0"/>
              </a:spcAft>
            </a:pPr>
            <a:r>
              <a:rPr lang="zh-CN" altLang="en-US"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来料检测位</a:t>
            </a:r>
            <a:endParaRPr lang="zh-CN" altLang="zh-CN" sz="16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73425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43200" y="596265"/>
            <a:ext cx="4572000" cy="959485"/>
            <a:chOff x="0" y="0"/>
            <a:chExt cx="5868000" cy="1279444"/>
          </a:xfrm>
          <a:solidFill>
            <a:srgbClr val="133970"/>
          </a:solidFill>
        </p:grpSpPr>
        <p:sp>
          <p:nvSpPr>
            <p:cNvPr id="3" name="Freeform 3"/>
            <p:cNvSpPr/>
            <p:nvPr/>
          </p:nvSpPr>
          <p:spPr>
            <a:xfrm>
              <a:off x="0" y="0"/>
              <a:ext cx="5868035" cy="1279398"/>
            </a:xfrm>
            <a:custGeom>
              <a:avLst/>
              <a:gdLst/>
              <a:ahLst/>
              <a:cxnLst/>
              <a:rect l="l" t="t" r="r" b="b"/>
              <a:pathLst>
                <a:path w="5868035" h="1279398">
                  <a:moveTo>
                    <a:pt x="0" y="0"/>
                  </a:moveTo>
                  <a:lnTo>
                    <a:pt x="5868035" y="0"/>
                  </a:lnTo>
                  <a:lnTo>
                    <a:pt x="5868035" y="1279398"/>
                  </a:lnTo>
                  <a:lnTo>
                    <a:pt x="0" y="1279398"/>
                  </a:lnTo>
                  <a:close/>
                </a:path>
              </a:pathLst>
            </a:custGeom>
            <a:grpFill/>
          </p:spPr>
          <p:txBody>
            <a:bodyPr/>
            <a:lstStyle/>
            <a:p>
              <a:endParaRPr lang="zh-CN" altLang="en-US" dirty="0">
                <a:latin typeface="Times New Roman" panose="02020603050405020304" charset="0"/>
                <a:cs typeface="Times New Roman" panose="02020603050405020304" charset="0"/>
              </a:endParaRPr>
            </a:p>
          </p:txBody>
        </p:sp>
      </p:grpSp>
      <p:sp>
        <p:nvSpPr>
          <p:cNvPr id="4" name="TextBox 4"/>
          <p:cNvSpPr txBox="1"/>
          <p:nvPr/>
        </p:nvSpPr>
        <p:spPr>
          <a:xfrm>
            <a:off x="2895600" y="800100"/>
            <a:ext cx="4049420" cy="589915"/>
          </a:xfrm>
          <a:prstGeom prst="rect">
            <a:avLst/>
          </a:prstGeom>
        </p:spPr>
        <p:txBody>
          <a:bodyPr wrap="square" lIns="0" tIns="0" rIns="0" bIns="0" rtlCol="0" anchor="t">
            <a:noAutofit/>
          </a:bodyPr>
          <a:lstStyle/>
          <a:p>
            <a:pPr>
              <a:lnSpc>
                <a:spcPts val="4320"/>
              </a:lnSpc>
            </a:pPr>
            <a:r>
              <a:rPr lang="zh-CN" altLang="en-US" sz="3600" spc="194" dirty="0">
                <a:solidFill>
                  <a:schemeClr val="bg1"/>
                </a:solidFill>
                <a:latin typeface="Times New Roman" panose="02020603050405020304" charset="0"/>
                <a:ea typeface="微软雅黑" panose="020B0503020204020204" charset="-122"/>
                <a:cs typeface="字由点字典黑 65J Bold" panose="00020600040101010101" charset="-122"/>
                <a:sym typeface="+mn-ea"/>
              </a:rPr>
              <a:t>整体方案</a:t>
            </a:r>
            <a:r>
              <a:rPr lang="en-US" altLang="zh-CN" sz="3600" spc="194" dirty="0">
                <a:solidFill>
                  <a:schemeClr val="bg1"/>
                </a:solidFill>
                <a:latin typeface="Times New Roman" panose="02020603050405020304" charset="0"/>
                <a:ea typeface="微软雅黑" panose="020B0503020204020204" charset="-122"/>
                <a:cs typeface="字由点字典黑 65J Bold" panose="00020600040101010101" charset="-122"/>
                <a:sym typeface="+mn-ea"/>
              </a:rPr>
              <a:t>-</a:t>
            </a:r>
            <a:r>
              <a:rPr lang="zh-CN" altLang="en-US" sz="3600" spc="194" dirty="0">
                <a:solidFill>
                  <a:schemeClr val="bg1"/>
                </a:solidFill>
                <a:latin typeface="Times New Roman" panose="02020603050405020304" charset="0"/>
                <a:ea typeface="微软雅黑" panose="020B0503020204020204" charset="-122"/>
                <a:cs typeface="字由点字典黑 65J Bold" panose="00020600040101010101" charset="-122"/>
                <a:sym typeface="+mn-ea"/>
              </a:rPr>
              <a:t>上料位</a:t>
            </a:r>
          </a:p>
        </p:txBody>
      </p:sp>
      <p:grpSp>
        <p:nvGrpSpPr>
          <p:cNvPr id="33" name="Group 26"/>
          <p:cNvGrpSpPr/>
          <p:nvPr/>
        </p:nvGrpSpPr>
        <p:grpSpPr>
          <a:xfrm>
            <a:off x="0" y="1378974"/>
            <a:ext cx="2452685" cy="176473"/>
            <a:chOff x="0" y="0"/>
            <a:chExt cx="2364602" cy="170135"/>
          </a:xfrm>
          <a:solidFill>
            <a:srgbClr val="133970"/>
          </a:solidFill>
        </p:grpSpPr>
        <p:sp>
          <p:nvSpPr>
            <p:cNvPr id="34" name="Freeform 27"/>
            <p:cNvSpPr/>
            <p:nvPr/>
          </p:nvSpPr>
          <p:spPr>
            <a:xfrm>
              <a:off x="0" y="0"/>
              <a:ext cx="2364621" cy="170129"/>
            </a:xfrm>
            <a:custGeom>
              <a:avLst/>
              <a:gdLst/>
              <a:ahLst/>
              <a:cxnLst/>
              <a:rect l="l" t="t" r="r" b="b"/>
              <a:pathLst>
                <a:path w="2364621" h="170129">
                  <a:moveTo>
                    <a:pt x="0" y="0"/>
                  </a:moveTo>
                  <a:lnTo>
                    <a:pt x="2364621" y="0"/>
                  </a:lnTo>
                  <a:lnTo>
                    <a:pt x="2364621" y="170129"/>
                  </a:lnTo>
                  <a:lnTo>
                    <a:pt x="0" y="170129"/>
                  </a:lnTo>
                  <a:close/>
                </a:path>
              </a:pathLst>
            </a:custGeom>
            <a:grpFill/>
          </p:spPr>
        </p:sp>
      </p:grpSp>
      <p:sp>
        <p:nvSpPr>
          <p:cNvPr id="37" name="TextBox 35"/>
          <p:cNvSpPr txBox="1"/>
          <p:nvPr/>
        </p:nvSpPr>
        <p:spPr>
          <a:xfrm>
            <a:off x="970304" y="161962"/>
            <a:ext cx="1840527" cy="1661795"/>
          </a:xfrm>
          <a:prstGeom prst="rect">
            <a:avLst/>
          </a:prstGeom>
        </p:spPr>
        <p:txBody>
          <a:bodyPr lIns="0" tIns="0" rIns="0" bIns="0" rtlCol="0" anchor="t">
            <a:spAutoFit/>
          </a:bodyPr>
          <a:lstStyle/>
          <a:p>
            <a:pPr>
              <a:lnSpc>
                <a:spcPts val="12960"/>
              </a:lnSpc>
            </a:pPr>
            <a:r>
              <a:rPr lang="en-US" sz="10800" b="1" dirty="0">
                <a:solidFill>
                  <a:srgbClr val="000000"/>
                </a:solidFill>
                <a:latin typeface="Times New Roman" panose="02020603050405020304" charset="0"/>
                <a:ea typeface="Arimo Bold" panose="020B0704020202020204"/>
                <a:cs typeface="Times New Roman" panose="02020603050405020304" charset="0"/>
                <a:sym typeface="Arimo Bold" panose="020B0704020202020204"/>
              </a:rPr>
              <a:t>02</a:t>
            </a:r>
          </a:p>
        </p:txBody>
      </p:sp>
      <p:pic>
        <p:nvPicPr>
          <p:cNvPr id="5" name="图片 4" descr="资源 12xxxhdpi"/>
          <p:cNvPicPr>
            <a:picLocks noChangeAspect="1"/>
          </p:cNvPicPr>
          <p:nvPr/>
        </p:nvPicPr>
        <p:blipFill>
          <a:blip r:embed="rId2"/>
          <a:stretch>
            <a:fillRect/>
          </a:stretch>
        </p:blipFill>
        <p:spPr>
          <a:xfrm>
            <a:off x="16306800" y="114300"/>
            <a:ext cx="1841500" cy="467360"/>
          </a:xfrm>
          <a:prstGeom prst="rect">
            <a:avLst/>
          </a:prstGeom>
        </p:spPr>
      </p:pic>
      <p:sp>
        <p:nvSpPr>
          <p:cNvPr id="21" name="矩形 20"/>
          <p:cNvSpPr/>
          <p:nvPr/>
        </p:nvSpPr>
        <p:spPr>
          <a:xfrm>
            <a:off x="0" y="9898380"/>
            <a:ext cx="18288000" cy="380365"/>
          </a:xfrm>
          <a:prstGeom prst="rect">
            <a:avLst/>
          </a:prstGeom>
          <a:solidFill>
            <a:srgbClr val="114B82">
              <a:alpha val="78000"/>
            </a:srgb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latin typeface="Times New Roman" panose="02020603050405020304" charset="0"/>
              <a:cs typeface="Times New Roman" panose="02020603050405020304" charset="0"/>
            </a:endParaRPr>
          </a:p>
        </p:txBody>
      </p:sp>
      <p:sp>
        <p:nvSpPr>
          <p:cNvPr id="22" name="矩形 21"/>
          <p:cNvSpPr/>
          <p:nvPr/>
        </p:nvSpPr>
        <p:spPr>
          <a:xfrm flipV="1">
            <a:off x="7759700" y="-5080"/>
            <a:ext cx="10546715" cy="119380"/>
          </a:xfrm>
          <a:prstGeom prst="rect">
            <a:avLst/>
          </a:prstGeom>
          <a:solidFill>
            <a:srgbClr val="D6001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latin typeface="Times New Roman" panose="02020603050405020304" charset="0"/>
              <a:cs typeface="Times New Roman" panose="02020603050405020304" charset="0"/>
            </a:endParaRPr>
          </a:p>
        </p:txBody>
      </p:sp>
      <p:sp>
        <p:nvSpPr>
          <p:cNvPr id="11" name="文本框 28">
            <a:extLst>
              <a:ext uri="{FF2B5EF4-FFF2-40B4-BE49-F238E27FC236}">
                <a16:creationId xmlns:a16="http://schemas.microsoft.com/office/drawing/2014/main" id="{858D9E37-5289-442D-A7F5-08DBCCA313C5}"/>
              </a:ext>
            </a:extLst>
          </p:cNvPr>
          <p:cNvSpPr txBox="1"/>
          <p:nvPr/>
        </p:nvSpPr>
        <p:spPr>
          <a:xfrm>
            <a:off x="10551172" y="2857588"/>
            <a:ext cx="5450827" cy="4437753"/>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eaLnBrk="0" fontAlgn="base" hangingPunct="0">
              <a:lnSpc>
                <a:spcPct val="150000"/>
              </a:lnSpc>
              <a:buClrTx/>
              <a:buSzTx/>
              <a:buFontTx/>
            </a:pPr>
            <a:r>
              <a:rPr lang="zh-CN" sz="2400" dirty="0">
                <a:latin typeface="宋体" panose="02010600030101010101" pitchFamily="2" charset="-122"/>
              </a:rPr>
              <a:t>1、</a:t>
            </a:r>
            <a:r>
              <a:rPr lang="zh-CN" altLang="en-US" sz="2400" dirty="0">
                <a:latin typeface="宋体" panose="02010600030101010101" pitchFamily="2" charset="-122"/>
              </a:rPr>
              <a:t>多相机多模态融合工位</a:t>
            </a:r>
            <a:r>
              <a:rPr lang="zh-CN" sz="2400" dirty="0">
                <a:latin typeface="宋体" panose="02010600030101010101" pitchFamily="2" charset="-122"/>
              </a:rPr>
              <a:t>；</a:t>
            </a:r>
          </a:p>
          <a:p>
            <a:pPr algn="l" eaLnBrk="0" fontAlgn="base" hangingPunct="0">
              <a:lnSpc>
                <a:spcPct val="150000"/>
              </a:lnSpc>
              <a:buClrTx/>
              <a:buSzTx/>
              <a:buFontTx/>
            </a:pPr>
            <a:r>
              <a:rPr lang="en-US" altLang="zh-CN" sz="2400" dirty="0">
                <a:latin typeface="宋体" panose="02010600030101010101" pitchFamily="2" charset="-122"/>
              </a:rPr>
              <a:t>2</a:t>
            </a:r>
            <a:r>
              <a:rPr lang="zh-CN" altLang="en-US" sz="2400" dirty="0">
                <a:latin typeface="宋体" panose="02010600030101010101" pitchFamily="2" charset="-122"/>
              </a:rPr>
              <a:t>、通过物理标识以及人工智能检测算法识别当前产品规格以及产品状态（是否缺料、是否与预设程序不一致）；</a:t>
            </a:r>
          </a:p>
          <a:p>
            <a:pPr algn="l" eaLnBrk="0" fontAlgn="base" hangingPunct="0">
              <a:lnSpc>
                <a:spcPct val="150000"/>
              </a:lnSpc>
              <a:buClrTx/>
              <a:buSzTx/>
              <a:buFontTx/>
            </a:pPr>
            <a:r>
              <a:rPr lang="en-US" altLang="zh-CN" sz="2400" dirty="0">
                <a:latin typeface="宋体" panose="02010600030101010101" pitchFamily="2" charset="-122"/>
              </a:rPr>
              <a:t>3</a:t>
            </a:r>
            <a:r>
              <a:rPr lang="zh-CN" altLang="en-US" sz="2400" dirty="0">
                <a:latin typeface="宋体" panose="02010600030101010101" pitchFamily="2" charset="-122"/>
              </a:rPr>
              <a:t>、多规格兼容</a:t>
            </a:r>
            <a:r>
              <a:rPr lang="en-US" altLang="zh-CN" sz="2400" dirty="0">
                <a:latin typeface="宋体" panose="02010600030101010101" pitchFamily="2" charset="-122"/>
              </a:rPr>
              <a:t>3D</a:t>
            </a:r>
            <a:r>
              <a:rPr lang="zh-CN" altLang="en-US" sz="2400" dirty="0">
                <a:latin typeface="宋体" panose="02010600030101010101" pitchFamily="2" charset="-122"/>
              </a:rPr>
              <a:t>姿态识别相机（针对上料产品的姿态稳定性进行判定）；</a:t>
            </a:r>
          </a:p>
          <a:p>
            <a:pPr algn="l" eaLnBrk="0" fontAlgn="base" hangingPunct="0">
              <a:lnSpc>
                <a:spcPct val="150000"/>
              </a:lnSpc>
              <a:buClrTx/>
              <a:buSzTx/>
              <a:buFontTx/>
            </a:pPr>
            <a:r>
              <a:rPr lang="en-US" altLang="zh-CN" sz="2400" dirty="0">
                <a:latin typeface="宋体" panose="02010600030101010101" pitchFamily="2" charset="-122"/>
              </a:rPr>
              <a:t>4</a:t>
            </a:r>
            <a:r>
              <a:rPr lang="zh-CN" altLang="en-US" sz="2400" dirty="0">
                <a:latin typeface="宋体" panose="02010600030101010101" pitchFamily="2" charset="-122"/>
              </a:rPr>
              <a:t>、通过多相机模块组成上料检测位为检测产品建立完善的身份信息</a:t>
            </a:r>
          </a:p>
        </p:txBody>
      </p:sp>
      <p:pic>
        <p:nvPicPr>
          <p:cNvPr id="13" name="图片 12">
            <a:extLst>
              <a:ext uri="{FF2B5EF4-FFF2-40B4-BE49-F238E27FC236}">
                <a16:creationId xmlns:a16="http://schemas.microsoft.com/office/drawing/2014/main" id="{C19F8098-C3CF-4BA2-84BB-D9813D761D8E}"/>
              </a:ext>
            </a:extLst>
          </p:cNvPr>
          <p:cNvPicPr>
            <a:picLocks noChangeAspect="1"/>
          </p:cNvPicPr>
          <p:nvPr/>
        </p:nvPicPr>
        <p:blipFill>
          <a:blip r:embed="rId3"/>
          <a:stretch>
            <a:fillRect/>
          </a:stretch>
        </p:blipFill>
        <p:spPr>
          <a:xfrm>
            <a:off x="2431923" y="1886356"/>
            <a:ext cx="6219048" cy="6514286"/>
          </a:xfrm>
          <a:prstGeom prst="rect">
            <a:avLst/>
          </a:prstGeom>
        </p:spPr>
      </p:pic>
    </p:spTree>
    <p:extLst>
      <p:ext uri="{BB962C8B-B14F-4D97-AF65-F5344CB8AC3E}">
        <p14:creationId xmlns:p14="http://schemas.microsoft.com/office/powerpoint/2010/main" val="3628782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43200" y="596265"/>
            <a:ext cx="4572000" cy="959485"/>
            <a:chOff x="0" y="0"/>
            <a:chExt cx="5868000" cy="1279444"/>
          </a:xfrm>
          <a:solidFill>
            <a:srgbClr val="133970"/>
          </a:solidFill>
        </p:grpSpPr>
        <p:sp>
          <p:nvSpPr>
            <p:cNvPr id="3" name="Freeform 3"/>
            <p:cNvSpPr/>
            <p:nvPr/>
          </p:nvSpPr>
          <p:spPr>
            <a:xfrm>
              <a:off x="0" y="0"/>
              <a:ext cx="5868035" cy="1279398"/>
            </a:xfrm>
            <a:custGeom>
              <a:avLst/>
              <a:gdLst/>
              <a:ahLst/>
              <a:cxnLst/>
              <a:rect l="l" t="t" r="r" b="b"/>
              <a:pathLst>
                <a:path w="5868035" h="1279398">
                  <a:moveTo>
                    <a:pt x="0" y="0"/>
                  </a:moveTo>
                  <a:lnTo>
                    <a:pt x="5868035" y="0"/>
                  </a:lnTo>
                  <a:lnTo>
                    <a:pt x="5868035" y="1279398"/>
                  </a:lnTo>
                  <a:lnTo>
                    <a:pt x="0" y="1279398"/>
                  </a:lnTo>
                  <a:close/>
                </a:path>
              </a:pathLst>
            </a:custGeom>
            <a:grpFill/>
          </p:spPr>
          <p:txBody>
            <a:bodyPr/>
            <a:lstStyle/>
            <a:p>
              <a:endParaRPr lang="zh-CN" altLang="en-US" dirty="0">
                <a:latin typeface="Times New Roman" panose="02020603050405020304" charset="0"/>
                <a:cs typeface="Times New Roman" panose="02020603050405020304" charset="0"/>
              </a:endParaRPr>
            </a:p>
          </p:txBody>
        </p:sp>
      </p:grpSp>
      <p:sp>
        <p:nvSpPr>
          <p:cNvPr id="4" name="TextBox 4"/>
          <p:cNvSpPr txBox="1"/>
          <p:nvPr/>
        </p:nvSpPr>
        <p:spPr>
          <a:xfrm>
            <a:off x="2895600" y="800100"/>
            <a:ext cx="4049420" cy="589915"/>
          </a:xfrm>
          <a:prstGeom prst="rect">
            <a:avLst/>
          </a:prstGeom>
        </p:spPr>
        <p:txBody>
          <a:bodyPr wrap="square" lIns="0" tIns="0" rIns="0" bIns="0" rtlCol="0" anchor="t">
            <a:noAutofit/>
          </a:bodyPr>
          <a:lstStyle/>
          <a:p>
            <a:pPr>
              <a:lnSpc>
                <a:spcPts val="4320"/>
              </a:lnSpc>
            </a:pPr>
            <a:r>
              <a:rPr lang="zh-CN" altLang="en-US" sz="3600" spc="194" dirty="0">
                <a:solidFill>
                  <a:schemeClr val="bg1"/>
                </a:solidFill>
                <a:latin typeface="Times New Roman" panose="02020603050405020304" charset="0"/>
                <a:ea typeface="微软雅黑" panose="020B0503020204020204" charset="-122"/>
                <a:cs typeface="字由点字典黑 65J Bold" panose="00020600040101010101" charset="-122"/>
                <a:sym typeface="+mn-ea"/>
              </a:rPr>
              <a:t>整体方案</a:t>
            </a:r>
            <a:r>
              <a:rPr lang="en-US" altLang="zh-CN" sz="3600" spc="194" dirty="0">
                <a:solidFill>
                  <a:schemeClr val="bg1"/>
                </a:solidFill>
                <a:latin typeface="Times New Roman" panose="02020603050405020304" charset="0"/>
                <a:ea typeface="微软雅黑" panose="020B0503020204020204" charset="-122"/>
                <a:cs typeface="字由点字典黑 65J Bold" panose="00020600040101010101" charset="-122"/>
                <a:sym typeface="+mn-ea"/>
              </a:rPr>
              <a:t>-</a:t>
            </a:r>
            <a:r>
              <a:rPr lang="zh-CN" altLang="en-US" sz="3600" spc="194" dirty="0">
                <a:solidFill>
                  <a:schemeClr val="bg1"/>
                </a:solidFill>
                <a:latin typeface="Times New Roman" panose="02020603050405020304" charset="0"/>
                <a:ea typeface="微软雅黑" panose="020B0503020204020204" charset="-122"/>
                <a:cs typeface="字由点字典黑 65J Bold" panose="00020600040101010101" charset="-122"/>
                <a:sym typeface="+mn-ea"/>
              </a:rPr>
              <a:t>料盘</a:t>
            </a:r>
          </a:p>
        </p:txBody>
      </p:sp>
      <p:grpSp>
        <p:nvGrpSpPr>
          <p:cNvPr id="33" name="Group 26"/>
          <p:cNvGrpSpPr/>
          <p:nvPr/>
        </p:nvGrpSpPr>
        <p:grpSpPr>
          <a:xfrm>
            <a:off x="0" y="1378974"/>
            <a:ext cx="2452685" cy="176473"/>
            <a:chOff x="0" y="0"/>
            <a:chExt cx="2364602" cy="170135"/>
          </a:xfrm>
          <a:solidFill>
            <a:srgbClr val="133970"/>
          </a:solidFill>
        </p:grpSpPr>
        <p:sp>
          <p:nvSpPr>
            <p:cNvPr id="34" name="Freeform 27"/>
            <p:cNvSpPr/>
            <p:nvPr/>
          </p:nvSpPr>
          <p:spPr>
            <a:xfrm>
              <a:off x="0" y="0"/>
              <a:ext cx="2364621" cy="170129"/>
            </a:xfrm>
            <a:custGeom>
              <a:avLst/>
              <a:gdLst/>
              <a:ahLst/>
              <a:cxnLst/>
              <a:rect l="l" t="t" r="r" b="b"/>
              <a:pathLst>
                <a:path w="2364621" h="170129">
                  <a:moveTo>
                    <a:pt x="0" y="0"/>
                  </a:moveTo>
                  <a:lnTo>
                    <a:pt x="2364621" y="0"/>
                  </a:lnTo>
                  <a:lnTo>
                    <a:pt x="2364621" y="170129"/>
                  </a:lnTo>
                  <a:lnTo>
                    <a:pt x="0" y="170129"/>
                  </a:lnTo>
                  <a:close/>
                </a:path>
              </a:pathLst>
            </a:custGeom>
            <a:grpFill/>
          </p:spPr>
        </p:sp>
      </p:grpSp>
      <p:sp>
        <p:nvSpPr>
          <p:cNvPr id="37" name="TextBox 35"/>
          <p:cNvSpPr txBox="1"/>
          <p:nvPr/>
        </p:nvSpPr>
        <p:spPr>
          <a:xfrm>
            <a:off x="970304" y="161962"/>
            <a:ext cx="1840527" cy="1661795"/>
          </a:xfrm>
          <a:prstGeom prst="rect">
            <a:avLst/>
          </a:prstGeom>
        </p:spPr>
        <p:txBody>
          <a:bodyPr lIns="0" tIns="0" rIns="0" bIns="0" rtlCol="0" anchor="t">
            <a:spAutoFit/>
          </a:bodyPr>
          <a:lstStyle/>
          <a:p>
            <a:pPr>
              <a:lnSpc>
                <a:spcPts val="12960"/>
              </a:lnSpc>
            </a:pPr>
            <a:r>
              <a:rPr lang="en-US" sz="10800" b="1" dirty="0">
                <a:solidFill>
                  <a:srgbClr val="000000"/>
                </a:solidFill>
                <a:latin typeface="Times New Roman" panose="02020603050405020304" charset="0"/>
                <a:ea typeface="Arimo Bold" panose="020B0704020202020204"/>
                <a:cs typeface="Times New Roman" panose="02020603050405020304" charset="0"/>
                <a:sym typeface="Arimo Bold" panose="020B0704020202020204"/>
              </a:rPr>
              <a:t>02</a:t>
            </a:r>
          </a:p>
        </p:txBody>
      </p:sp>
      <p:pic>
        <p:nvPicPr>
          <p:cNvPr id="5" name="图片 4" descr="资源 12xxxhdpi"/>
          <p:cNvPicPr>
            <a:picLocks noChangeAspect="1"/>
          </p:cNvPicPr>
          <p:nvPr/>
        </p:nvPicPr>
        <p:blipFill>
          <a:blip r:embed="rId2"/>
          <a:stretch>
            <a:fillRect/>
          </a:stretch>
        </p:blipFill>
        <p:spPr>
          <a:xfrm>
            <a:off x="16306800" y="114300"/>
            <a:ext cx="1841500" cy="467360"/>
          </a:xfrm>
          <a:prstGeom prst="rect">
            <a:avLst/>
          </a:prstGeom>
        </p:spPr>
      </p:pic>
      <p:sp>
        <p:nvSpPr>
          <p:cNvPr id="21" name="矩形 20"/>
          <p:cNvSpPr/>
          <p:nvPr/>
        </p:nvSpPr>
        <p:spPr>
          <a:xfrm>
            <a:off x="0" y="9898380"/>
            <a:ext cx="18288000" cy="380365"/>
          </a:xfrm>
          <a:prstGeom prst="rect">
            <a:avLst/>
          </a:prstGeom>
          <a:solidFill>
            <a:srgbClr val="114B82">
              <a:alpha val="78000"/>
            </a:srgb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latin typeface="Times New Roman" panose="02020603050405020304" charset="0"/>
              <a:cs typeface="Times New Roman" panose="02020603050405020304" charset="0"/>
            </a:endParaRPr>
          </a:p>
        </p:txBody>
      </p:sp>
      <p:sp>
        <p:nvSpPr>
          <p:cNvPr id="22" name="矩形 21"/>
          <p:cNvSpPr/>
          <p:nvPr/>
        </p:nvSpPr>
        <p:spPr>
          <a:xfrm flipV="1">
            <a:off x="7759700" y="-5080"/>
            <a:ext cx="10546715" cy="119380"/>
          </a:xfrm>
          <a:prstGeom prst="rect">
            <a:avLst/>
          </a:prstGeom>
          <a:solidFill>
            <a:srgbClr val="D6001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latin typeface="Times New Roman" panose="02020603050405020304" charset="0"/>
              <a:cs typeface="Times New Roman" panose="02020603050405020304" charset="0"/>
            </a:endParaRPr>
          </a:p>
        </p:txBody>
      </p:sp>
      <p:sp>
        <p:nvSpPr>
          <p:cNvPr id="11" name="文本框 28">
            <a:extLst>
              <a:ext uri="{FF2B5EF4-FFF2-40B4-BE49-F238E27FC236}">
                <a16:creationId xmlns:a16="http://schemas.microsoft.com/office/drawing/2014/main" id="{858D9E37-5289-442D-A7F5-08DBCCA313C5}"/>
              </a:ext>
            </a:extLst>
          </p:cNvPr>
          <p:cNvSpPr txBox="1"/>
          <p:nvPr/>
        </p:nvSpPr>
        <p:spPr>
          <a:xfrm>
            <a:off x="12649200" y="2484463"/>
            <a:ext cx="5817522" cy="6099747"/>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eaLnBrk="0" fontAlgn="base" hangingPunct="0">
              <a:lnSpc>
                <a:spcPct val="150000"/>
              </a:lnSpc>
              <a:buClrTx/>
              <a:buSzTx/>
              <a:buFontTx/>
            </a:pPr>
            <a:r>
              <a:rPr lang="zh-CN" sz="2400" dirty="0">
                <a:latin typeface="宋体" panose="02010600030101010101" pitchFamily="2" charset="-122"/>
              </a:rPr>
              <a:t>1、采用</a:t>
            </a:r>
            <a:r>
              <a:rPr lang="zh-CN" altLang="en-US" sz="2400" dirty="0">
                <a:latin typeface="宋体" panose="02010600030101010101" pitchFamily="2" charset="-122"/>
              </a:rPr>
              <a:t>仿形</a:t>
            </a:r>
            <a:r>
              <a:rPr lang="zh-CN" sz="2400" dirty="0">
                <a:latin typeface="宋体" panose="02010600030101010101" pitchFamily="2" charset="-122"/>
              </a:rPr>
              <a:t>托盘上料</a:t>
            </a:r>
            <a:r>
              <a:rPr lang="zh-CN" altLang="en-US" sz="2400" dirty="0">
                <a:latin typeface="宋体" panose="02010600030101010101" pitchFamily="2" charset="-122"/>
              </a:rPr>
              <a:t>，针对不同零件进行仿形设计</a:t>
            </a:r>
            <a:r>
              <a:rPr lang="zh-CN" sz="2400" dirty="0">
                <a:latin typeface="宋体" panose="02010600030101010101" pitchFamily="2" charset="-122"/>
              </a:rPr>
              <a:t>；</a:t>
            </a:r>
          </a:p>
          <a:p>
            <a:pPr algn="l" eaLnBrk="0" fontAlgn="base" hangingPunct="0">
              <a:lnSpc>
                <a:spcPct val="150000"/>
              </a:lnSpc>
              <a:buClrTx/>
              <a:buSzTx/>
              <a:buFontTx/>
            </a:pPr>
            <a:r>
              <a:rPr lang="en-US" altLang="zh-CN" sz="2400" dirty="0">
                <a:latin typeface="宋体" panose="02010600030101010101" pitchFamily="2" charset="-122"/>
              </a:rPr>
              <a:t>2</a:t>
            </a:r>
            <a:r>
              <a:rPr lang="zh-CN" altLang="en-US" sz="2400" dirty="0">
                <a:latin typeface="宋体" panose="02010600030101010101" pitchFamily="2" charset="-122"/>
              </a:rPr>
              <a:t>、一次性可存放多个产品（</a:t>
            </a:r>
            <a:r>
              <a:rPr lang="en-US" altLang="zh-CN" sz="2400" dirty="0">
                <a:latin typeface="宋体" panose="02010600030101010101" pitchFamily="2" charset="-122"/>
              </a:rPr>
              <a:t>15</a:t>
            </a:r>
            <a:r>
              <a:rPr lang="zh-CN" altLang="en-US" sz="2400" dirty="0">
                <a:latin typeface="宋体" panose="02010600030101010101" pitchFamily="2" charset="-122"/>
              </a:rPr>
              <a:t>个）；</a:t>
            </a:r>
          </a:p>
          <a:p>
            <a:pPr algn="l" eaLnBrk="0" fontAlgn="base" hangingPunct="0">
              <a:lnSpc>
                <a:spcPct val="150000"/>
              </a:lnSpc>
              <a:buClrTx/>
              <a:buSzTx/>
              <a:buFontTx/>
            </a:pPr>
            <a:r>
              <a:rPr lang="en-US" altLang="zh-CN" sz="2400" dirty="0">
                <a:latin typeface="宋体" panose="02010600030101010101" pitchFamily="2" charset="-122"/>
              </a:rPr>
              <a:t>3</a:t>
            </a:r>
            <a:r>
              <a:rPr lang="zh-CN" altLang="en-US" sz="2400" dirty="0">
                <a:latin typeface="宋体" panose="02010600030101010101" pitchFamily="2" charset="-122"/>
              </a:rPr>
              <a:t>、料盘通过同一定位装置，对不同产品可做到定位兼容；</a:t>
            </a:r>
          </a:p>
          <a:p>
            <a:pPr algn="l" eaLnBrk="0" fontAlgn="base" hangingPunct="0">
              <a:lnSpc>
                <a:spcPct val="150000"/>
              </a:lnSpc>
              <a:buClrTx/>
              <a:buSzTx/>
              <a:buFontTx/>
            </a:pPr>
            <a:r>
              <a:rPr lang="en-US" altLang="zh-CN" sz="2400" dirty="0">
                <a:latin typeface="宋体" panose="02010600030101010101" pitchFamily="2" charset="-122"/>
              </a:rPr>
              <a:t>4</a:t>
            </a:r>
            <a:r>
              <a:rPr lang="zh-CN" altLang="en-US" sz="2400" dirty="0">
                <a:latin typeface="宋体" panose="02010600030101010101" pitchFamily="2" charset="-122"/>
              </a:rPr>
              <a:t>、通过更换料盘，可实现多品种在线检测。</a:t>
            </a:r>
            <a:endParaRPr lang="en-US" altLang="zh-CN" sz="2400" dirty="0">
              <a:latin typeface="宋体" panose="02010600030101010101" pitchFamily="2" charset="-122"/>
            </a:endParaRPr>
          </a:p>
          <a:p>
            <a:pPr algn="l" eaLnBrk="0" fontAlgn="base" hangingPunct="0">
              <a:lnSpc>
                <a:spcPct val="150000"/>
              </a:lnSpc>
              <a:buClrTx/>
              <a:buSzTx/>
              <a:buFontTx/>
            </a:pPr>
            <a:r>
              <a:rPr lang="en-US" altLang="zh-CN" sz="2400" dirty="0">
                <a:latin typeface="宋体" panose="02010600030101010101" pitchFamily="2" charset="-122"/>
              </a:rPr>
              <a:t>5</a:t>
            </a:r>
            <a:r>
              <a:rPr lang="zh-CN" altLang="en-US" sz="2400" dirty="0">
                <a:latin typeface="宋体" panose="02010600030101010101" pitchFamily="2" charset="-122"/>
              </a:rPr>
              <a:t>、增加</a:t>
            </a:r>
            <a:r>
              <a:rPr lang="en-US" altLang="zh-CN" sz="2400" dirty="0">
                <a:latin typeface="宋体" panose="02010600030101010101" pitchFamily="2" charset="-122"/>
              </a:rPr>
              <a:t>NG</a:t>
            </a:r>
            <a:r>
              <a:rPr lang="zh-CN" altLang="en-US" sz="2400" dirty="0">
                <a:latin typeface="宋体" panose="02010600030101010101" pitchFamily="2" charset="-122"/>
              </a:rPr>
              <a:t>物理标识槽位☆</a:t>
            </a:r>
            <a:endParaRPr lang="en-US" altLang="zh-CN" sz="2400" dirty="0">
              <a:latin typeface="宋体" panose="02010600030101010101" pitchFamily="2" charset="-122"/>
            </a:endParaRPr>
          </a:p>
          <a:p>
            <a:pPr algn="l" eaLnBrk="0" fontAlgn="base" hangingPunct="0">
              <a:lnSpc>
                <a:spcPct val="150000"/>
              </a:lnSpc>
              <a:buClrTx/>
              <a:buSzTx/>
              <a:buFontTx/>
            </a:pPr>
            <a:r>
              <a:rPr lang="en-US" altLang="zh-CN" sz="2400" dirty="0">
                <a:latin typeface="宋体" panose="02010600030101010101" pitchFamily="2" charset="-122"/>
              </a:rPr>
              <a:t>6</a:t>
            </a:r>
            <a:r>
              <a:rPr lang="zh-CN" altLang="en-US" sz="2400" dirty="0">
                <a:latin typeface="宋体" panose="02010600030101010101" pitchFamily="2" charset="-122"/>
              </a:rPr>
              <a:t>、增加物理编码标识用于自动识别当前料盘内物料规格</a:t>
            </a:r>
            <a:endParaRPr lang="en-US" altLang="zh-CN" sz="2400" dirty="0">
              <a:latin typeface="宋体" panose="02010600030101010101" pitchFamily="2" charset="-122"/>
            </a:endParaRPr>
          </a:p>
          <a:p>
            <a:pPr algn="l" eaLnBrk="0" fontAlgn="base" hangingPunct="0">
              <a:lnSpc>
                <a:spcPct val="150000"/>
              </a:lnSpc>
              <a:buClrTx/>
              <a:buSzTx/>
              <a:buFontTx/>
            </a:pPr>
            <a:r>
              <a:rPr lang="en-US" altLang="zh-CN" sz="2400" dirty="0">
                <a:latin typeface="宋体" panose="02010600030101010101" pitchFamily="2" charset="-122"/>
              </a:rPr>
              <a:t>7</a:t>
            </a:r>
            <a:r>
              <a:rPr lang="zh-CN" altLang="en-US" sz="2400" dirty="0">
                <a:latin typeface="宋体" panose="02010600030101010101" pitchFamily="2" charset="-122"/>
              </a:rPr>
              <a:t>、人体工学把手便捷性上下料</a:t>
            </a:r>
          </a:p>
        </p:txBody>
      </p:sp>
      <p:pic>
        <p:nvPicPr>
          <p:cNvPr id="7" name="图片 6">
            <a:extLst>
              <a:ext uri="{FF2B5EF4-FFF2-40B4-BE49-F238E27FC236}">
                <a16:creationId xmlns:a16="http://schemas.microsoft.com/office/drawing/2014/main" id="{B981683C-84B7-4DA3-8721-476AD1ED8B4C}"/>
              </a:ext>
            </a:extLst>
          </p:cNvPr>
          <p:cNvPicPr>
            <a:picLocks noChangeAspect="1"/>
          </p:cNvPicPr>
          <p:nvPr/>
        </p:nvPicPr>
        <p:blipFill>
          <a:blip r:embed="rId3"/>
          <a:stretch>
            <a:fillRect/>
          </a:stretch>
        </p:blipFill>
        <p:spPr>
          <a:xfrm>
            <a:off x="13855" y="2226887"/>
            <a:ext cx="6137935" cy="5917207"/>
          </a:xfrm>
          <a:prstGeom prst="rect">
            <a:avLst/>
          </a:prstGeom>
        </p:spPr>
      </p:pic>
      <p:pic>
        <p:nvPicPr>
          <p:cNvPr id="13" name="图片 12">
            <a:extLst>
              <a:ext uri="{FF2B5EF4-FFF2-40B4-BE49-F238E27FC236}">
                <a16:creationId xmlns:a16="http://schemas.microsoft.com/office/drawing/2014/main" id="{76A86159-8486-4BBB-B67D-AAF4652ADBD1}"/>
              </a:ext>
            </a:extLst>
          </p:cNvPr>
          <p:cNvPicPr>
            <a:picLocks noChangeAspect="1"/>
          </p:cNvPicPr>
          <p:nvPr/>
        </p:nvPicPr>
        <p:blipFill>
          <a:blip r:embed="rId4"/>
          <a:stretch>
            <a:fillRect/>
          </a:stretch>
        </p:blipFill>
        <p:spPr>
          <a:xfrm>
            <a:off x="6262238" y="2184896"/>
            <a:ext cx="6318078" cy="5917207"/>
          </a:xfrm>
          <a:prstGeom prst="rect">
            <a:avLst/>
          </a:prstGeom>
        </p:spPr>
      </p:pic>
    </p:spTree>
    <p:extLst>
      <p:ext uri="{BB962C8B-B14F-4D97-AF65-F5344CB8AC3E}">
        <p14:creationId xmlns:p14="http://schemas.microsoft.com/office/powerpoint/2010/main" val="4166116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389E8FA1-366B-4C7A-9E99-387C57395960}"/>
              </a:ext>
            </a:extLst>
          </p:cNvPr>
          <p:cNvPicPr>
            <a:picLocks noChangeAspect="1"/>
          </p:cNvPicPr>
          <p:nvPr/>
        </p:nvPicPr>
        <p:blipFill>
          <a:blip r:embed="rId2"/>
          <a:stretch>
            <a:fillRect/>
          </a:stretch>
        </p:blipFill>
        <p:spPr>
          <a:xfrm>
            <a:off x="1553562" y="2607027"/>
            <a:ext cx="7895238" cy="6342857"/>
          </a:xfrm>
          <a:prstGeom prst="rect">
            <a:avLst/>
          </a:prstGeom>
        </p:spPr>
      </p:pic>
      <p:grpSp>
        <p:nvGrpSpPr>
          <p:cNvPr id="2" name="Group 2"/>
          <p:cNvGrpSpPr/>
          <p:nvPr/>
        </p:nvGrpSpPr>
        <p:grpSpPr>
          <a:xfrm>
            <a:off x="2743200" y="596265"/>
            <a:ext cx="8382000" cy="959485"/>
            <a:chOff x="0" y="0"/>
            <a:chExt cx="5868000" cy="1279444"/>
          </a:xfrm>
          <a:solidFill>
            <a:srgbClr val="133970"/>
          </a:solidFill>
        </p:grpSpPr>
        <p:sp>
          <p:nvSpPr>
            <p:cNvPr id="3" name="Freeform 3"/>
            <p:cNvSpPr/>
            <p:nvPr/>
          </p:nvSpPr>
          <p:spPr>
            <a:xfrm>
              <a:off x="0" y="0"/>
              <a:ext cx="5868035" cy="1279398"/>
            </a:xfrm>
            <a:custGeom>
              <a:avLst/>
              <a:gdLst/>
              <a:ahLst/>
              <a:cxnLst/>
              <a:rect l="l" t="t" r="r" b="b"/>
              <a:pathLst>
                <a:path w="5868035" h="1279398">
                  <a:moveTo>
                    <a:pt x="0" y="0"/>
                  </a:moveTo>
                  <a:lnTo>
                    <a:pt x="5868035" y="0"/>
                  </a:lnTo>
                  <a:lnTo>
                    <a:pt x="5868035" y="1279398"/>
                  </a:lnTo>
                  <a:lnTo>
                    <a:pt x="0" y="1279398"/>
                  </a:lnTo>
                  <a:close/>
                </a:path>
              </a:pathLst>
            </a:custGeom>
            <a:grpFill/>
          </p:spPr>
          <p:txBody>
            <a:bodyPr/>
            <a:lstStyle/>
            <a:p>
              <a:endParaRPr lang="zh-CN" altLang="en-US" dirty="0">
                <a:latin typeface="Times New Roman" panose="02020603050405020304" charset="0"/>
                <a:cs typeface="Times New Roman" panose="02020603050405020304" charset="0"/>
              </a:endParaRPr>
            </a:p>
          </p:txBody>
        </p:sp>
      </p:grpSp>
      <p:sp>
        <p:nvSpPr>
          <p:cNvPr id="4" name="TextBox 4"/>
          <p:cNvSpPr txBox="1"/>
          <p:nvPr/>
        </p:nvSpPr>
        <p:spPr>
          <a:xfrm>
            <a:off x="2895600" y="800100"/>
            <a:ext cx="5943600" cy="589915"/>
          </a:xfrm>
          <a:prstGeom prst="rect">
            <a:avLst/>
          </a:prstGeom>
        </p:spPr>
        <p:txBody>
          <a:bodyPr wrap="square" lIns="0" tIns="0" rIns="0" bIns="0" rtlCol="0" anchor="t">
            <a:noAutofit/>
          </a:bodyPr>
          <a:lstStyle/>
          <a:p>
            <a:pPr>
              <a:lnSpc>
                <a:spcPts val="4320"/>
              </a:lnSpc>
            </a:pPr>
            <a:r>
              <a:rPr lang="zh-CN" altLang="en-US" sz="3600" spc="194" dirty="0">
                <a:solidFill>
                  <a:schemeClr val="bg1"/>
                </a:solidFill>
                <a:latin typeface="Times New Roman" panose="02020603050405020304" charset="0"/>
                <a:ea typeface="微软雅黑" panose="020B0503020204020204" charset="-122"/>
                <a:cs typeface="字由点字典黑 65J Bold" panose="00020600040101010101" charset="-122"/>
                <a:sym typeface="+mn-ea"/>
              </a:rPr>
              <a:t>整体方案</a:t>
            </a:r>
            <a:r>
              <a:rPr lang="en-US" altLang="zh-CN" sz="3600" spc="194" dirty="0">
                <a:solidFill>
                  <a:schemeClr val="bg1"/>
                </a:solidFill>
                <a:latin typeface="Times New Roman" panose="02020603050405020304" charset="0"/>
                <a:ea typeface="微软雅黑" panose="020B0503020204020204" charset="-122"/>
                <a:cs typeface="字由点字典黑 65J Bold" panose="00020600040101010101" charset="-122"/>
                <a:sym typeface="+mn-ea"/>
              </a:rPr>
              <a:t>-</a:t>
            </a:r>
            <a:r>
              <a:rPr lang="zh-CN" altLang="en-US" sz="3600" spc="194" dirty="0">
                <a:solidFill>
                  <a:schemeClr val="bg1"/>
                </a:solidFill>
                <a:latin typeface="Times New Roman" panose="02020603050405020304" charset="0"/>
                <a:ea typeface="微软雅黑" panose="020B0503020204020204" charset="-122"/>
                <a:cs typeface="字由点字典黑 65J Bold" panose="00020600040101010101" charset="-122"/>
                <a:sym typeface="+mn-ea"/>
              </a:rPr>
              <a:t>检测运载模块</a:t>
            </a:r>
          </a:p>
        </p:txBody>
      </p:sp>
      <p:grpSp>
        <p:nvGrpSpPr>
          <p:cNvPr id="33" name="Group 26"/>
          <p:cNvGrpSpPr/>
          <p:nvPr/>
        </p:nvGrpSpPr>
        <p:grpSpPr>
          <a:xfrm>
            <a:off x="0" y="1378974"/>
            <a:ext cx="2452685" cy="176473"/>
            <a:chOff x="0" y="0"/>
            <a:chExt cx="2364602" cy="170135"/>
          </a:xfrm>
          <a:solidFill>
            <a:srgbClr val="133970"/>
          </a:solidFill>
        </p:grpSpPr>
        <p:sp>
          <p:nvSpPr>
            <p:cNvPr id="34" name="Freeform 27"/>
            <p:cNvSpPr/>
            <p:nvPr/>
          </p:nvSpPr>
          <p:spPr>
            <a:xfrm>
              <a:off x="0" y="0"/>
              <a:ext cx="2364621" cy="170129"/>
            </a:xfrm>
            <a:custGeom>
              <a:avLst/>
              <a:gdLst/>
              <a:ahLst/>
              <a:cxnLst/>
              <a:rect l="l" t="t" r="r" b="b"/>
              <a:pathLst>
                <a:path w="2364621" h="170129">
                  <a:moveTo>
                    <a:pt x="0" y="0"/>
                  </a:moveTo>
                  <a:lnTo>
                    <a:pt x="2364621" y="0"/>
                  </a:lnTo>
                  <a:lnTo>
                    <a:pt x="2364621" y="170129"/>
                  </a:lnTo>
                  <a:lnTo>
                    <a:pt x="0" y="170129"/>
                  </a:lnTo>
                  <a:close/>
                </a:path>
              </a:pathLst>
            </a:custGeom>
            <a:grpFill/>
          </p:spPr>
        </p:sp>
      </p:grpSp>
      <p:sp>
        <p:nvSpPr>
          <p:cNvPr id="37" name="TextBox 35"/>
          <p:cNvSpPr txBox="1"/>
          <p:nvPr/>
        </p:nvSpPr>
        <p:spPr>
          <a:xfrm>
            <a:off x="970304" y="161962"/>
            <a:ext cx="1840527" cy="1661795"/>
          </a:xfrm>
          <a:prstGeom prst="rect">
            <a:avLst/>
          </a:prstGeom>
        </p:spPr>
        <p:txBody>
          <a:bodyPr lIns="0" tIns="0" rIns="0" bIns="0" rtlCol="0" anchor="t">
            <a:spAutoFit/>
          </a:bodyPr>
          <a:lstStyle/>
          <a:p>
            <a:pPr>
              <a:lnSpc>
                <a:spcPts val="12960"/>
              </a:lnSpc>
            </a:pPr>
            <a:r>
              <a:rPr lang="en-US" sz="10800" b="1" dirty="0">
                <a:solidFill>
                  <a:srgbClr val="000000"/>
                </a:solidFill>
                <a:latin typeface="Times New Roman" panose="02020603050405020304" charset="0"/>
                <a:ea typeface="Arimo Bold" panose="020B0704020202020204"/>
                <a:cs typeface="Times New Roman" panose="02020603050405020304" charset="0"/>
                <a:sym typeface="Arimo Bold" panose="020B0704020202020204"/>
              </a:rPr>
              <a:t>02</a:t>
            </a:r>
          </a:p>
        </p:txBody>
      </p:sp>
      <p:pic>
        <p:nvPicPr>
          <p:cNvPr id="5" name="图片 4" descr="资源 12xxxhdpi"/>
          <p:cNvPicPr>
            <a:picLocks noChangeAspect="1"/>
          </p:cNvPicPr>
          <p:nvPr/>
        </p:nvPicPr>
        <p:blipFill>
          <a:blip r:embed="rId3"/>
          <a:stretch>
            <a:fillRect/>
          </a:stretch>
        </p:blipFill>
        <p:spPr>
          <a:xfrm>
            <a:off x="16306800" y="114300"/>
            <a:ext cx="1841500" cy="467360"/>
          </a:xfrm>
          <a:prstGeom prst="rect">
            <a:avLst/>
          </a:prstGeom>
        </p:spPr>
      </p:pic>
      <p:sp>
        <p:nvSpPr>
          <p:cNvPr id="21" name="矩形 20"/>
          <p:cNvSpPr/>
          <p:nvPr/>
        </p:nvSpPr>
        <p:spPr>
          <a:xfrm>
            <a:off x="0" y="9898380"/>
            <a:ext cx="18288000" cy="380365"/>
          </a:xfrm>
          <a:prstGeom prst="rect">
            <a:avLst/>
          </a:prstGeom>
          <a:solidFill>
            <a:srgbClr val="114B82">
              <a:alpha val="78000"/>
            </a:srgb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latin typeface="Times New Roman" panose="02020603050405020304" charset="0"/>
              <a:cs typeface="Times New Roman" panose="02020603050405020304" charset="0"/>
            </a:endParaRPr>
          </a:p>
        </p:txBody>
      </p:sp>
      <p:sp>
        <p:nvSpPr>
          <p:cNvPr id="22" name="矩形 21"/>
          <p:cNvSpPr/>
          <p:nvPr/>
        </p:nvSpPr>
        <p:spPr>
          <a:xfrm flipV="1">
            <a:off x="7759700" y="-5080"/>
            <a:ext cx="10546715" cy="119380"/>
          </a:xfrm>
          <a:prstGeom prst="rect">
            <a:avLst/>
          </a:prstGeom>
          <a:solidFill>
            <a:srgbClr val="D6001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latin typeface="Times New Roman" panose="02020603050405020304" charset="0"/>
              <a:cs typeface="Times New Roman" panose="02020603050405020304" charset="0"/>
            </a:endParaRPr>
          </a:p>
        </p:txBody>
      </p:sp>
      <p:sp>
        <p:nvSpPr>
          <p:cNvPr id="11" name="文本框 28">
            <a:extLst>
              <a:ext uri="{FF2B5EF4-FFF2-40B4-BE49-F238E27FC236}">
                <a16:creationId xmlns:a16="http://schemas.microsoft.com/office/drawing/2014/main" id="{50967710-A86E-4F3C-B35E-8C4C6F82B729}"/>
              </a:ext>
            </a:extLst>
          </p:cNvPr>
          <p:cNvSpPr txBox="1"/>
          <p:nvPr/>
        </p:nvSpPr>
        <p:spPr>
          <a:xfrm>
            <a:off x="11811000" y="3460536"/>
            <a:ext cx="4640232" cy="386932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eaLnBrk="0" fontAlgn="base" hangingPunct="0">
              <a:lnSpc>
                <a:spcPct val="150000"/>
              </a:lnSpc>
              <a:buClrTx/>
              <a:buSzTx/>
              <a:buFontTx/>
            </a:pPr>
            <a:r>
              <a:rPr lang="zh-CN" sz="2800" dirty="0">
                <a:latin typeface="宋体" panose="02010600030101010101" pitchFamily="2" charset="-122"/>
              </a:rPr>
              <a:t>1、</a:t>
            </a:r>
            <a:r>
              <a:rPr lang="zh-CN" altLang="en-US" sz="2800" dirty="0">
                <a:latin typeface="宋体" panose="02010600030101010101" pitchFamily="2" charset="-122"/>
              </a:rPr>
              <a:t>通过高精度大行程</a:t>
            </a:r>
            <a:r>
              <a:rPr lang="en-US" altLang="zh-CN" sz="2800" dirty="0">
                <a:latin typeface="宋体" panose="02010600030101010101" pitchFamily="2" charset="-122"/>
              </a:rPr>
              <a:t>XY</a:t>
            </a:r>
            <a:r>
              <a:rPr lang="zh-CN" altLang="en-US" sz="2800" dirty="0">
                <a:latin typeface="宋体" panose="02010600030101010101" pitchFamily="2" charset="-122"/>
              </a:rPr>
              <a:t>运动模组完成对整盘料盘内产品的全扫描</a:t>
            </a:r>
            <a:endParaRPr lang="en-US" altLang="zh-CN" sz="2800" dirty="0">
              <a:latin typeface="宋体" panose="02010600030101010101" pitchFamily="2" charset="-122"/>
            </a:endParaRPr>
          </a:p>
          <a:p>
            <a:pPr algn="l" eaLnBrk="0" fontAlgn="base" hangingPunct="0">
              <a:lnSpc>
                <a:spcPct val="150000"/>
              </a:lnSpc>
              <a:buClrTx/>
              <a:buSzTx/>
              <a:buFontTx/>
            </a:pPr>
            <a:r>
              <a:rPr lang="en-US" altLang="zh-CN" sz="2800" dirty="0">
                <a:latin typeface="宋体" panose="02010600030101010101" pitchFamily="2" charset="-122"/>
              </a:rPr>
              <a:t>2</a:t>
            </a:r>
            <a:r>
              <a:rPr lang="zh-CN" altLang="en-US" sz="2800" dirty="0">
                <a:latin typeface="宋体" panose="02010600030101010101" pitchFamily="2" charset="-122"/>
              </a:rPr>
              <a:t>、料盘通过同一定位装置，对不同产品可做到定位兼容</a:t>
            </a:r>
            <a:r>
              <a:rPr lang="zh-CN" sz="2800" dirty="0">
                <a:latin typeface="宋体" panose="02010600030101010101" pitchFamily="2" charset="-122"/>
              </a:rPr>
              <a:t>定</a:t>
            </a:r>
            <a:r>
              <a:rPr lang="zh-CN" altLang="en-US" sz="2800" dirty="0">
                <a:latin typeface="宋体" panose="02010600030101010101" pitchFamily="2" charset="-122"/>
              </a:rPr>
              <a:t>。</a:t>
            </a:r>
          </a:p>
        </p:txBody>
      </p:sp>
      <p:sp>
        <p:nvSpPr>
          <p:cNvPr id="13" name="圆角矩形标注 4">
            <a:extLst>
              <a:ext uri="{FF2B5EF4-FFF2-40B4-BE49-F238E27FC236}">
                <a16:creationId xmlns:a16="http://schemas.microsoft.com/office/drawing/2014/main" id="{ECD6C9FE-A0FC-4730-BC5C-7E1809EF5D35}"/>
              </a:ext>
            </a:extLst>
          </p:cNvPr>
          <p:cNvSpPr>
            <a:spLocks noChangeArrowheads="1"/>
          </p:cNvSpPr>
          <p:nvPr/>
        </p:nvSpPr>
        <p:spPr bwMode="auto">
          <a:xfrm>
            <a:off x="9448800" y="6286500"/>
            <a:ext cx="1209894" cy="456062"/>
          </a:xfrm>
          <a:prstGeom prst="wedgeRoundRectCallout">
            <a:avLst>
              <a:gd name="adj1" fmla="val -176376"/>
              <a:gd name="adj2" fmla="val -150965"/>
              <a:gd name="adj3" fmla="val 16667"/>
            </a:avLst>
          </a:prstGeom>
          <a:noFill/>
          <a:ln w="12700">
            <a:solidFill>
              <a:srgbClr val="CD1523"/>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fontAlgn="base" hangingPunct="0">
              <a:spcBef>
                <a:spcPct val="0"/>
              </a:spcBef>
              <a:spcAft>
                <a:spcPct val="0"/>
              </a:spcAft>
            </a:pPr>
            <a:r>
              <a:rPr lang="zh-CN" altLang="en-US"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高精度</a:t>
            </a:r>
            <a:r>
              <a:rPr lang="en-US" altLang="zh-CN"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XY</a:t>
            </a:r>
            <a:r>
              <a:rPr lang="zh-CN" altLang="en-US"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移动平台</a:t>
            </a:r>
            <a:endParaRPr lang="zh-CN" altLang="zh-CN" sz="16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p:txBody>
      </p:sp>
      <p:sp>
        <p:nvSpPr>
          <p:cNvPr id="14" name="圆角矩形标注 4">
            <a:extLst>
              <a:ext uri="{FF2B5EF4-FFF2-40B4-BE49-F238E27FC236}">
                <a16:creationId xmlns:a16="http://schemas.microsoft.com/office/drawing/2014/main" id="{2CBA638B-5025-401C-B708-F7F663E96268}"/>
              </a:ext>
            </a:extLst>
          </p:cNvPr>
          <p:cNvSpPr>
            <a:spLocks noChangeArrowheads="1"/>
          </p:cNvSpPr>
          <p:nvPr/>
        </p:nvSpPr>
        <p:spPr bwMode="auto">
          <a:xfrm>
            <a:off x="3429000" y="9054641"/>
            <a:ext cx="1209894" cy="456062"/>
          </a:xfrm>
          <a:prstGeom prst="wedgeRoundRectCallout">
            <a:avLst>
              <a:gd name="adj1" fmla="val 64387"/>
              <a:gd name="adj2" fmla="val -671681"/>
              <a:gd name="adj3" fmla="val 16667"/>
            </a:avLst>
          </a:prstGeom>
          <a:noFill/>
          <a:ln w="12700">
            <a:solidFill>
              <a:srgbClr val="CD1523"/>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fontAlgn="base" hangingPunct="0">
              <a:spcBef>
                <a:spcPct val="0"/>
              </a:spcBef>
              <a:spcAft>
                <a:spcPct val="0"/>
              </a:spcAft>
            </a:pPr>
            <a:r>
              <a:rPr lang="zh-CN" altLang="en-US"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料盘定位装置</a:t>
            </a:r>
            <a:endParaRPr lang="zh-CN" altLang="zh-CN" sz="16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82503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98170DB0-3CE2-4568-801C-075E1CFD488B}"/>
              </a:ext>
            </a:extLst>
          </p:cNvPr>
          <p:cNvPicPr>
            <a:picLocks noChangeAspect="1"/>
          </p:cNvPicPr>
          <p:nvPr/>
        </p:nvPicPr>
        <p:blipFill>
          <a:blip r:embed="rId2"/>
          <a:stretch>
            <a:fillRect/>
          </a:stretch>
        </p:blipFill>
        <p:spPr>
          <a:xfrm>
            <a:off x="3200400" y="1885661"/>
            <a:ext cx="6065291" cy="6280693"/>
          </a:xfrm>
          <a:prstGeom prst="rect">
            <a:avLst/>
          </a:prstGeom>
        </p:spPr>
      </p:pic>
      <p:grpSp>
        <p:nvGrpSpPr>
          <p:cNvPr id="2" name="Group 2"/>
          <p:cNvGrpSpPr/>
          <p:nvPr/>
        </p:nvGrpSpPr>
        <p:grpSpPr>
          <a:xfrm>
            <a:off x="2743200" y="596265"/>
            <a:ext cx="5943600" cy="959485"/>
            <a:chOff x="0" y="0"/>
            <a:chExt cx="5868000" cy="1279444"/>
          </a:xfrm>
          <a:solidFill>
            <a:srgbClr val="133970"/>
          </a:solidFill>
        </p:grpSpPr>
        <p:sp>
          <p:nvSpPr>
            <p:cNvPr id="3" name="Freeform 3"/>
            <p:cNvSpPr/>
            <p:nvPr/>
          </p:nvSpPr>
          <p:spPr>
            <a:xfrm>
              <a:off x="0" y="0"/>
              <a:ext cx="5868035" cy="1279398"/>
            </a:xfrm>
            <a:custGeom>
              <a:avLst/>
              <a:gdLst/>
              <a:ahLst/>
              <a:cxnLst/>
              <a:rect l="l" t="t" r="r" b="b"/>
              <a:pathLst>
                <a:path w="5868035" h="1279398">
                  <a:moveTo>
                    <a:pt x="0" y="0"/>
                  </a:moveTo>
                  <a:lnTo>
                    <a:pt x="5868035" y="0"/>
                  </a:lnTo>
                  <a:lnTo>
                    <a:pt x="5868035" y="1279398"/>
                  </a:lnTo>
                  <a:lnTo>
                    <a:pt x="0" y="1279398"/>
                  </a:lnTo>
                  <a:close/>
                </a:path>
              </a:pathLst>
            </a:custGeom>
            <a:grpFill/>
          </p:spPr>
          <p:txBody>
            <a:bodyPr/>
            <a:lstStyle/>
            <a:p>
              <a:endParaRPr lang="zh-CN" altLang="en-US" dirty="0">
                <a:latin typeface="Times New Roman" panose="02020603050405020304" charset="0"/>
                <a:cs typeface="Times New Roman" panose="02020603050405020304" charset="0"/>
              </a:endParaRPr>
            </a:p>
          </p:txBody>
        </p:sp>
      </p:grpSp>
      <p:sp>
        <p:nvSpPr>
          <p:cNvPr id="4" name="TextBox 4"/>
          <p:cNvSpPr txBox="1"/>
          <p:nvPr/>
        </p:nvSpPr>
        <p:spPr>
          <a:xfrm>
            <a:off x="2895600" y="800100"/>
            <a:ext cx="5105400" cy="589915"/>
          </a:xfrm>
          <a:prstGeom prst="rect">
            <a:avLst/>
          </a:prstGeom>
        </p:spPr>
        <p:txBody>
          <a:bodyPr wrap="square" lIns="0" tIns="0" rIns="0" bIns="0" rtlCol="0" anchor="t">
            <a:noAutofit/>
          </a:bodyPr>
          <a:lstStyle/>
          <a:p>
            <a:pPr>
              <a:lnSpc>
                <a:spcPts val="4320"/>
              </a:lnSpc>
            </a:pPr>
            <a:r>
              <a:rPr lang="zh-CN" altLang="en-US" sz="3600" spc="194" dirty="0">
                <a:solidFill>
                  <a:schemeClr val="bg1"/>
                </a:solidFill>
                <a:latin typeface="Times New Roman" panose="02020603050405020304" charset="0"/>
                <a:ea typeface="微软雅黑" panose="020B0503020204020204" charset="-122"/>
                <a:cs typeface="字由点字典黑 65J Bold" panose="00020600040101010101" charset="-122"/>
                <a:sym typeface="+mn-ea"/>
              </a:rPr>
              <a:t>整体方案</a:t>
            </a:r>
            <a:r>
              <a:rPr lang="en-US" altLang="zh-CN" sz="3600" spc="194" dirty="0">
                <a:solidFill>
                  <a:schemeClr val="bg1"/>
                </a:solidFill>
                <a:latin typeface="Times New Roman" panose="02020603050405020304" charset="0"/>
                <a:ea typeface="微软雅黑" panose="020B0503020204020204" charset="-122"/>
                <a:cs typeface="字由点字典黑 65J Bold" panose="00020600040101010101" charset="-122"/>
                <a:sym typeface="+mn-ea"/>
              </a:rPr>
              <a:t>-</a:t>
            </a:r>
            <a:r>
              <a:rPr lang="zh-CN" altLang="en-US" sz="3600" spc="194" dirty="0">
                <a:solidFill>
                  <a:schemeClr val="bg1"/>
                </a:solidFill>
                <a:latin typeface="Times New Roman" panose="02020603050405020304" charset="0"/>
                <a:ea typeface="微软雅黑" panose="020B0503020204020204" charset="-122"/>
                <a:cs typeface="字由点字典黑 65J Bold" panose="00020600040101010101" charset="-122"/>
                <a:sym typeface="+mn-ea"/>
              </a:rPr>
              <a:t>检测位</a:t>
            </a:r>
          </a:p>
        </p:txBody>
      </p:sp>
      <p:grpSp>
        <p:nvGrpSpPr>
          <p:cNvPr id="33" name="Group 26"/>
          <p:cNvGrpSpPr/>
          <p:nvPr/>
        </p:nvGrpSpPr>
        <p:grpSpPr>
          <a:xfrm>
            <a:off x="0" y="1378974"/>
            <a:ext cx="2452685" cy="176473"/>
            <a:chOff x="0" y="0"/>
            <a:chExt cx="2364602" cy="170135"/>
          </a:xfrm>
          <a:solidFill>
            <a:srgbClr val="133970"/>
          </a:solidFill>
        </p:grpSpPr>
        <p:sp>
          <p:nvSpPr>
            <p:cNvPr id="34" name="Freeform 27"/>
            <p:cNvSpPr/>
            <p:nvPr/>
          </p:nvSpPr>
          <p:spPr>
            <a:xfrm>
              <a:off x="0" y="0"/>
              <a:ext cx="2364621" cy="170129"/>
            </a:xfrm>
            <a:custGeom>
              <a:avLst/>
              <a:gdLst/>
              <a:ahLst/>
              <a:cxnLst/>
              <a:rect l="l" t="t" r="r" b="b"/>
              <a:pathLst>
                <a:path w="2364621" h="170129">
                  <a:moveTo>
                    <a:pt x="0" y="0"/>
                  </a:moveTo>
                  <a:lnTo>
                    <a:pt x="2364621" y="0"/>
                  </a:lnTo>
                  <a:lnTo>
                    <a:pt x="2364621" y="170129"/>
                  </a:lnTo>
                  <a:lnTo>
                    <a:pt x="0" y="170129"/>
                  </a:lnTo>
                  <a:close/>
                </a:path>
              </a:pathLst>
            </a:custGeom>
            <a:grpFill/>
          </p:spPr>
        </p:sp>
      </p:grpSp>
      <p:sp>
        <p:nvSpPr>
          <p:cNvPr id="37" name="TextBox 35"/>
          <p:cNvSpPr txBox="1"/>
          <p:nvPr/>
        </p:nvSpPr>
        <p:spPr>
          <a:xfrm>
            <a:off x="970304" y="161962"/>
            <a:ext cx="1840527" cy="1661795"/>
          </a:xfrm>
          <a:prstGeom prst="rect">
            <a:avLst/>
          </a:prstGeom>
        </p:spPr>
        <p:txBody>
          <a:bodyPr lIns="0" tIns="0" rIns="0" bIns="0" rtlCol="0" anchor="t">
            <a:spAutoFit/>
          </a:bodyPr>
          <a:lstStyle/>
          <a:p>
            <a:pPr>
              <a:lnSpc>
                <a:spcPts val="12960"/>
              </a:lnSpc>
            </a:pPr>
            <a:r>
              <a:rPr lang="en-US" sz="10800" b="1" dirty="0">
                <a:solidFill>
                  <a:srgbClr val="000000"/>
                </a:solidFill>
                <a:latin typeface="Times New Roman" panose="02020603050405020304" charset="0"/>
                <a:ea typeface="Arimo Bold" panose="020B0704020202020204"/>
                <a:cs typeface="Times New Roman" panose="02020603050405020304" charset="0"/>
                <a:sym typeface="Arimo Bold" panose="020B0704020202020204"/>
              </a:rPr>
              <a:t>02</a:t>
            </a:r>
          </a:p>
        </p:txBody>
      </p:sp>
      <p:pic>
        <p:nvPicPr>
          <p:cNvPr id="5" name="图片 4" descr="资源 12xxxhdpi"/>
          <p:cNvPicPr>
            <a:picLocks noChangeAspect="1"/>
          </p:cNvPicPr>
          <p:nvPr/>
        </p:nvPicPr>
        <p:blipFill>
          <a:blip r:embed="rId3"/>
          <a:stretch>
            <a:fillRect/>
          </a:stretch>
        </p:blipFill>
        <p:spPr>
          <a:xfrm>
            <a:off x="16306800" y="114300"/>
            <a:ext cx="1841500" cy="467360"/>
          </a:xfrm>
          <a:prstGeom prst="rect">
            <a:avLst/>
          </a:prstGeom>
        </p:spPr>
      </p:pic>
      <p:sp>
        <p:nvSpPr>
          <p:cNvPr id="21" name="矩形 20"/>
          <p:cNvSpPr/>
          <p:nvPr/>
        </p:nvSpPr>
        <p:spPr>
          <a:xfrm>
            <a:off x="0" y="9898380"/>
            <a:ext cx="18288000" cy="380365"/>
          </a:xfrm>
          <a:prstGeom prst="rect">
            <a:avLst/>
          </a:prstGeom>
          <a:solidFill>
            <a:srgbClr val="114B82">
              <a:alpha val="78000"/>
            </a:srgb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latin typeface="Times New Roman" panose="02020603050405020304" charset="0"/>
              <a:cs typeface="Times New Roman" panose="02020603050405020304" charset="0"/>
            </a:endParaRPr>
          </a:p>
        </p:txBody>
      </p:sp>
      <p:sp>
        <p:nvSpPr>
          <p:cNvPr id="22" name="矩形 21"/>
          <p:cNvSpPr/>
          <p:nvPr/>
        </p:nvSpPr>
        <p:spPr>
          <a:xfrm flipV="1">
            <a:off x="7759700" y="-5080"/>
            <a:ext cx="10546715" cy="119380"/>
          </a:xfrm>
          <a:prstGeom prst="rect">
            <a:avLst/>
          </a:prstGeom>
          <a:solidFill>
            <a:srgbClr val="D6001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latin typeface="Times New Roman" panose="02020603050405020304" charset="0"/>
              <a:cs typeface="Times New Roman" panose="02020603050405020304" charset="0"/>
            </a:endParaRPr>
          </a:p>
        </p:txBody>
      </p:sp>
      <p:sp>
        <p:nvSpPr>
          <p:cNvPr id="12" name="文本框 28">
            <a:extLst>
              <a:ext uri="{FF2B5EF4-FFF2-40B4-BE49-F238E27FC236}">
                <a16:creationId xmlns:a16="http://schemas.microsoft.com/office/drawing/2014/main" id="{E01DF4E1-5604-4713-BD28-020D9AAB913D}"/>
              </a:ext>
            </a:extLst>
          </p:cNvPr>
          <p:cNvSpPr txBox="1"/>
          <p:nvPr/>
        </p:nvSpPr>
        <p:spPr>
          <a:xfrm>
            <a:off x="11420694" y="2590614"/>
            <a:ext cx="5334000" cy="386932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eaLnBrk="0" fontAlgn="base" hangingPunct="0">
              <a:lnSpc>
                <a:spcPct val="150000"/>
              </a:lnSpc>
              <a:buClrTx/>
              <a:buSzTx/>
              <a:buFontTx/>
            </a:pPr>
            <a:r>
              <a:rPr lang="zh-CN" sz="2800" dirty="0">
                <a:latin typeface="宋体" panose="02010600030101010101" pitchFamily="2" charset="-122"/>
              </a:rPr>
              <a:t>1、</a:t>
            </a:r>
            <a:r>
              <a:rPr lang="zh-CN" altLang="en-US" sz="2800" dirty="0">
                <a:latin typeface="宋体" panose="02010600030101010101" pitchFamily="2" charset="-122"/>
              </a:rPr>
              <a:t>通过多相机组合检测模式兼容不同规格产品包括大密封面以及深孔内的缺陷检测</a:t>
            </a:r>
            <a:r>
              <a:rPr lang="zh-CN" sz="2800" dirty="0">
                <a:latin typeface="宋体" panose="02010600030101010101" pitchFamily="2" charset="-122"/>
              </a:rPr>
              <a:t>；</a:t>
            </a:r>
            <a:endParaRPr lang="en-US" altLang="zh-CN" sz="2800" dirty="0">
              <a:latin typeface="宋体" panose="02010600030101010101" pitchFamily="2" charset="-122"/>
            </a:endParaRPr>
          </a:p>
          <a:p>
            <a:pPr algn="l" eaLnBrk="0" fontAlgn="base" hangingPunct="0">
              <a:lnSpc>
                <a:spcPct val="150000"/>
              </a:lnSpc>
              <a:buClrTx/>
              <a:buSzTx/>
              <a:buFontTx/>
            </a:pPr>
            <a:r>
              <a:rPr lang="en-US" altLang="zh-CN" sz="2800" dirty="0">
                <a:latin typeface="宋体" panose="02010600030101010101" pitchFamily="2" charset="-122"/>
              </a:rPr>
              <a:t>2</a:t>
            </a:r>
            <a:r>
              <a:rPr lang="zh-CN" altLang="en-US" sz="2800" dirty="0">
                <a:latin typeface="宋体" panose="02010600030101010101" pitchFamily="2" charset="-122"/>
              </a:rPr>
              <a:t>、搭载自动化对焦模组对不同产品进行自适应对焦</a:t>
            </a:r>
            <a:endParaRPr lang="zh-CN" sz="2800" dirty="0">
              <a:latin typeface="宋体" panose="02010600030101010101" pitchFamily="2" charset="-122"/>
            </a:endParaRPr>
          </a:p>
          <a:p>
            <a:pPr algn="l" eaLnBrk="0" fontAlgn="base" hangingPunct="0">
              <a:lnSpc>
                <a:spcPct val="150000"/>
              </a:lnSpc>
              <a:buClrTx/>
              <a:buSzTx/>
              <a:buFontTx/>
            </a:pPr>
            <a:endParaRPr lang="zh-CN" altLang="en-US" sz="2800" dirty="0">
              <a:latin typeface="宋体" panose="02010600030101010101" pitchFamily="2" charset="-122"/>
            </a:endParaRPr>
          </a:p>
        </p:txBody>
      </p:sp>
      <p:sp>
        <p:nvSpPr>
          <p:cNvPr id="13" name="圆角矩形标注 4">
            <a:extLst>
              <a:ext uri="{FF2B5EF4-FFF2-40B4-BE49-F238E27FC236}">
                <a16:creationId xmlns:a16="http://schemas.microsoft.com/office/drawing/2014/main" id="{E9B8E45A-2041-4912-A03C-526CB860A1EB}"/>
              </a:ext>
            </a:extLst>
          </p:cNvPr>
          <p:cNvSpPr>
            <a:spLocks noChangeArrowheads="1"/>
          </p:cNvSpPr>
          <p:nvPr/>
        </p:nvSpPr>
        <p:spPr bwMode="auto">
          <a:xfrm>
            <a:off x="9722891" y="8020175"/>
            <a:ext cx="1209894" cy="456062"/>
          </a:xfrm>
          <a:prstGeom prst="wedgeRoundRectCallout">
            <a:avLst>
              <a:gd name="adj1" fmla="val -244901"/>
              <a:gd name="adj2" fmla="val -361439"/>
              <a:gd name="adj3" fmla="val 16667"/>
            </a:avLst>
          </a:prstGeom>
          <a:noFill/>
          <a:ln w="12700">
            <a:solidFill>
              <a:srgbClr val="CD1523"/>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fontAlgn="base" hangingPunct="0">
              <a:spcBef>
                <a:spcPct val="0"/>
              </a:spcBef>
              <a:spcAft>
                <a:spcPct val="0"/>
              </a:spcAft>
            </a:pPr>
            <a:r>
              <a:rPr lang="zh-CN" altLang="en-US"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刀纹检测模块</a:t>
            </a:r>
            <a:endParaRPr lang="zh-CN" altLang="zh-CN" sz="16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p:txBody>
      </p:sp>
      <p:sp>
        <p:nvSpPr>
          <p:cNvPr id="14" name="圆角矩形标注 4">
            <a:extLst>
              <a:ext uri="{FF2B5EF4-FFF2-40B4-BE49-F238E27FC236}">
                <a16:creationId xmlns:a16="http://schemas.microsoft.com/office/drawing/2014/main" id="{16FE6798-21F2-4138-9B23-EE4454A38077}"/>
              </a:ext>
            </a:extLst>
          </p:cNvPr>
          <p:cNvSpPr>
            <a:spLocks noChangeArrowheads="1"/>
          </p:cNvSpPr>
          <p:nvPr/>
        </p:nvSpPr>
        <p:spPr bwMode="auto">
          <a:xfrm>
            <a:off x="1533306" y="3555783"/>
            <a:ext cx="1209894" cy="456062"/>
          </a:xfrm>
          <a:prstGeom prst="wedgeRoundRectCallout">
            <a:avLst>
              <a:gd name="adj1" fmla="val 226419"/>
              <a:gd name="adj2" fmla="val 254893"/>
              <a:gd name="adj3" fmla="val 16667"/>
            </a:avLst>
          </a:prstGeom>
          <a:noFill/>
          <a:ln w="12700">
            <a:solidFill>
              <a:srgbClr val="CD1523"/>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fontAlgn="base" hangingPunct="0">
              <a:spcBef>
                <a:spcPct val="0"/>
              </a:spcBef>
              <a:spcAft>
                <a:spcPct val="0"/>
              </a:spcAft>
            </a:pPr>
            <a:r>
              <a:rPr lang="zh-CN" altLang="en-US"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划痕</a:t>
            </a:r>
            <a:r>
              <a:rPr lang="en-US" altLang="zh-CN"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lang="zh-CN" altLang="en-US"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异物检测模块</a:t>
            </a:r>
            <a:endParaRPr lang="zh-CN" altLang="zh-CN" sz="16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61878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a:extLst>
              <a:ext uri="{FF2B5EF4-FFF2-40B4-BE49-F238E27FC236}">
                <a16:creationId xmlns:a16="http://schemas.microsoft.com/office/drawing/2014/main" id="{3832A25C-1DC1-44A4-AC09-FAFC5711FE06}"/>
              </a:ext>
            </a:extLst>
          </p:cNvPr>
          <p:cNvPicPr>
            <a:picLocks noChangeAspect="1"/>
          </p:cNvPicPr>
          <p:nvPr/>
        </p:nvPicPr>
        <p:blipFill>
          <a:blip r:embed="rId2"/>
          <a:stretch>
            <a:fillRect/>
          </a:stretch>
        </p:blipFill>
        <p:spPr>
          <a:xfrm>
            <a:off x="8044530" y="3188425"/>
            <a:ext cx="4285714" cy="5206185"/>
          </a:xfrm>
          <a:prstGeom prst="rect">
            <a:avLst/>
          </a:prstGeom>
        </p:spPr>
      </p:pic>
      <p:pic>
        <p:nvPicPr>
          <p:cNvPr id="15" name="图片 14">
            <a:extLst>
              <a:ext uri="{FF2B5EF4-FFF2-40B4-BE49-F238E27FC236}">
                <a16:creationId xmlns:a16="http://schemas.microsoft.com/office/drawing/2014/main" id="{8F345E7F-8D3E-48F6-AA26-3B2E287E7F48}"/>
              </a:ext>
            </a:extLst>
          </p:cNvPr>
          <p:cNvPicPr>
            <a:picLocks noChangeAspect="1"/>
          </p:cNvPicPr>
          <p:nvPr/>
        </p:nvPicPr>
        <p:blipFill>
          <a:blip r:embed="rId3"/>
          <a:stretch>
            <a:fillRect/>
          </a:stretch>
        </p:blipFill>
        <p:spPr>
          <a:xfrm>
            <a:off x="1676400" y="2163667"/>
            <a:ext cx="4285714" cy="5866667"/>
          </a:xfrm>
          <a:prstGeom prst="rect">
            <a:avLst/>
          </a:prstGeom>
        </p:spPr>
      </p:pic>
      <p:grpSp>
        <p:nvGrpSpPr>
          <p:cNvPr id="2" name="Group 2"/>
          <p:cNvGrpSpPr/>
          <p:nvPr/>
        </p:nvGrpSpPr>
        <p:grpSpPr>
          <a:xfrm>
            <a:off x="2743200" y="596265"/>
            <a:ext cx="7467600" cy="959485"/>
            <a:chOff x="0" y="0"/>
            <a:chExt cx="5868000" cy="1279444"/>
          </a:xfrm>
          <a:solidFill>
            <a:srgbClr val="133970"/>
          </a:solidFill>
        </p:grpSpPr>
        <p:sp>
          <p:nvSpPr>
            <p:cNvPr id="3" name="Freeform 3"/>
            <p:cNvSpPr/>
            <p:nvPr/>
          </p:nvSpPr>
          <p:spPr>
            <a:xfrm>
              <a:off x="0" y="0"/>
              <a:ext cx="5868035" cy="1279398"/>
            </a:xfrm>
            <a:custGeom>
              <a:avLst/>
              <a:gdLst/>
              <a:ahLst/>
              <a:cxnLst/>
              <a:rect l="l" t="t" r="r" b="b"/>
              <a:pathLst>
                <a:path w="5868035" h="1279398">
                  <a:moveTo>
                    <a:pt x="0" y="0"/>
                  </a:moveTo>
                  <a:lnTo>
                    <a:pt x="5868035" y="0"/>
                  </a:lnTo>
                  <a:lnTo>
                    <a:pt x="5868035" y="1279398"/>
                  </a:lnTo>
                  <a:lnTo>
                    <a:pt x="0" y="1279398"/>
                  </a:lnTo>
                  <a:close/>
                </a:path>
              </a:pathLst>
            </a:custGeom>
            <a:grpFill/>
          </p:spPr>
          <p:txBody>
            <a:bodyPr/>
            <a:lstStyle/>
            <a:p>
              <a:endParaRPr lang="zh-CN" altLang="en-US" dirty="0">
                <a:latin typeface="Times New Roman" panose="02020603050405020304" charset="0"/>
                <a:cs typeface="Times New Roman" panose="02020603050405020304" charset="0"/>
              </a:endParaRPr>
            </a:p>
          </p:txBody>
        </p:sp>
      </p:grpSp>
      <p:sp>
        <p:nvSpPr>
          <p:cNvPr id="4" name="TextBox 4"/>
          <p:cNvSpPr txBox="1"/>
          <p:nvPr/>
        </p:nvSpPr>
        <p:spPr>
          <a:xfrm>
            <a:off x="2895600" y="800100"/>
            <a:ext cx="7086600" cy="589915"/>
          </a:xfrm>
          <a:prstGeom prst="rect">
            <a:avLst/>
          </a:prstGeom>
        </p:spPr>
        <p:txBody>
          <a:bodyPr wrap="square" lIns="0" tIns="0" rIns="0" bIns="0" rtlCol="0" anchor="t">
            <a:noAutofit/>
          </a:bodyPr>
          <a:lstStyle/>
          <a:p>
            <a:pPr>
              <a:lnSpc>
                <a:spcPts val="4320"/>
              </a:lnSpc>
            </a:pPr>
            <a:r>
              <a:rPr lang="zh-CN" altLang="en-US" sz="3600" spc="194" dirty="0">
                <a:solidFill>
                  <a:schemeClr val="bg1"/>
                </a:solidFill>
                <a:latin typeface="Times New Roman" panose="02020603050405020304" charset="0"/>
                <a:ea typeface="微软雅黑" panose="020B0503020204020204" charset="-122"/>
                <a:cs typeface="字由点字典黑 65J Bold" panose="00020600040101010101" charset="-122"/>
                <a:sym typeface="+mn-ea"/>
              </a:rPr>
              <a:t>整体方案</a:t>
            </a:r>
            <a:r>
              <a:rPr lang="en-US" altLang="zh-CN" sz="3600" spc="194" dirty="0">
                <a:solidFill>
                  <a:schemeClr val="bg1"/>
                </a:solidFill>
                <a:latin typeface="Times New Roman" panose="02020603050405020304" charset="0"/>
                <a:ea typeface="微软雅黑" panose="020B0503020204020204" charset="-122"/>
                <a:cs typeface="字由点字典黑 65J Bold" panose="00020600040101010101" charset="-122"/>
                <a:sym typeface="+mn-ea"/>
              </a:rPr>
              <a:t>-</a:t>
            </a:r>
            <a:r>
              <a:rPr lang="zh-CN" altLang="en-US" sz="3600" spc="194" dirty="0">
                <a:solidFill>
                  <a:schemeClr val="bg1"/>
                </a:solidFill>
                <a:latin typeface="Times New Roman" panose="02020603050405020304" charset="0"/>
                <a:ea typeface="微软雅黑" panose="020B0503020204020204" charset="-122"/>
                <a:cs typeface="字由点字典黑 65J Bold" panose="00020600040101010101" charset="-122"/>
                <a:sym typeface="+mn-ea"/>
              </a:rPr>
              <a:t>产品翻转</a:t>
            </a:r>
            <a:r>
              <a:rPr lang="en-US" altLang="zh-CN" sz="3600" spc="194" dirty="0">
                <a:solidFill>
                  <a:schemeClr val="bg1"/>
                </a:solidFill>
                <a:latin typeface="Times New Roman" panose="02020603050405020304" charset="0"/>
                <a:ea typeface="微软雅黑" panose="020B0503020204020204" charset="-122"/>
                <a:cs typeface="字由点字典黑 65J Bold" panose="00020600040101010101" charset="-122"/>
                <a:sym typeface="+mn-ea"/>
              </a:rPr>
              <a:t>\</a:t>
            </a:r>
            <a:r>
              <a:rPr lang="zh-CN" altLang="en-US" sz="3600" spc="194" dirty="0">
                <a:solidFill>
                  <a:schemeClr val="bg1"/>
                </a:solidFill>
                <a:latin typeface="Times New Roman" panose="02020603050405020304" charset="0"/>
                <a:ea typeface="微软雅黑" panose="020B0503020204020204" charset="-122"/>
                <a:cs typeface="字由点字典黑 65J Bold" panose="00020600040101010101" charset="-122"/>
                <a:sym typeface="+mn-ea"/>
              </a:rPr>
              <a:t>移运工位</a:t>
            </a:r>
          </a:p>
        </p:txBody>
      </p:sp>
      <p:grpSp>
        <p:nvGrpSpPr>
          <p:cNvPr id="33" name="Group 26"/>
          <p:cNvGrpSpPr/>
          <p:nvPr/>
        </p:nvGrpSpPr>
        <p:grpSpPr>
          <a:xfrm>
            <a:off x="0" y="1378974"/>
            <a:ext cx="2452685" cy="176473"/>
            <a:chOff x="0" y="0"/>
            <a:chExt cx="2364602" cy="170135"/>
          </a:xfrm>
          <a:solidFill>
            <a:srgbClr val="133970"/>
          </a:solidFill>
        </p:grpSpPr>
        <p:sp>
          <p:nvSpPr>
            <p:cNvPr id="34" name="Freeform 27"/>
            <p:cNvSpPr/>
            <p:nvPr/>
          </p:nvSpPr>
          <p:spPr>
            <a:xfrm>
              <a:off x="0" y="0"/>
              <a:ext cx="2364621" cy="170129"/>
            </a:xfrm>
            <a:custGeom>
              <a:avLst/>
              <a:gdLst/>
              <a:ahLst/>
              <a:cxnLst/>
              <a:rect l="l" t="t" r="r" b="b"/>
              <a:pathLst>
                <a:path w="2364621" h="170129">
                  <a:moveTo>
                    <a:pt x="0" y="0"/>
                  </a:moveTo>
                  <a:lnTo>
                    <a:pt x="2364621" y="0"/>
                  </a:lnTo>
                  <a:lnTo>
                    <a:pt x="2364621" y="170129"/>
                  </a:lnTo>
                  <a:lnTo>
                    <a:pt x="0" y="170129"/>
                  </a:lnTo>
                  <a:close/>
                </a:path>
              </a:pathLst>
            </a:custGeom>
            <a:grpFill/>
          </p:spPr>
        </p:sp>
      </p:grpSp>
      <p:sp>
        <p:nvSpPr>
          <p:cNvPr id="37" name="TextBox 35"/>
          <p:cNvSpPr txBox="1"/>
          <p:nvPr/>
        </p:nvSpPr>
        <p:spPr>
          <a:xfrm>
            <a:off x="970304" y="161962"/>
            <a:ext cx="1840527" cy="1661795"/>
          </a:xfrm>
          <a:prstGeom prst="rect">
            <a:avLst/>
          </a:prstGeom>
        </p:spPr>
        <p:txBody>
          <a:bodyPr lIns="0" tIns="0" rIns="0" bIns="0" rtlCol="0" anchor="t">
            <a:spAutoFit/>
          </a:bodyPr>
          <a:lstStyle/>
          <a:p>
            <a:pPr>
              <a:lnSpc>
                <a:spcPts val="12960"/>
              </a:lnSpc>
            </a:pPr>
            <a:r>
              <a:rPr lang="en-US" sz="10800" b="1" dirty="0">
                <a:solidFill>
                  <a:srgbClr val="000000"/>
                </a:solidFill>
                <a:latin typeface="Times New Roman" panose="02020603050405020304" charset="0"/>
                <a:ea typeface="Arimo Bold" panose="020B0704020202020204"/>
                <a:cs typeface="Times New Roman" panose="02020603050405020304" charset="0"/>
                <a:sym typeface="Arimo Bold" panose="020B0704020202020204"/>
              </a:rPr>
              <a:t>02</a:t>
            </a:r>
          </a:p>
        </p:txBody>
      </p:sp>
      <p:pic>
        <p:nvPicPr>
          <p:cNvPr id="5" name="图片 4" descr="资源 12xxxhdpi"/>
          <p:cNvPicPr>
            <a:picLocks noChangeAspect="1"/>
          </p:cNvPicPr>
          <p:nvPr/>
        </p:nvPicPr>
        <p:blipFill>
          <a:blip r:embed="rId4"/>
          <a:stretch>
            <a:fillRect/>
          </a:stretch>
        </p:blipFill>
        <p:spPr>
          <a:xfrm>
            <a:off x="16306800" y="114300"/>
            <a:ext cx="1841500" cy="467360"/>
          </a:xfrm>
          <a:prstGeom prst="rect">
            <a:avLst/>
          </a:prstGeom>
        </p:spPr>
      </p:pic>
      <p:sp>
        <p:nvSpPr>
          <p:cNvPr id="21" name="矩形 20"/>
          <p:cNvSpPr/>
          <p:nvPr/>
        </p:nvSpPr>
        <p:spPr>
          <a:xfrm>
            <a:off x="0" y="9898380"/>
            <a:ext cx="18288000" cy="380365"/>
          </a:xfrm>
          <a:prstGeom prst="rect">
            <a:avLst/>
          </a:prstGeom>
          <a:solidFill>
            <a:srgbClr val="114B82">
              <a:alpha val="78000"/>
            </a:srgb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latin typeface="Times New Roman" panose="02020603050405020304" charset="0"/>
              <a:cs typeface="Times New Roman" panose="02020603050405020304" charset="0"/>
            </a:endParaRPr>
          </a:p>
        </p:txBody>
      </p:sp>
      <p:sp>
        <p:nvSpPr>
          <p:cNvPr id="22" name="矩形 21"/>
          <p:cNvSpPr/>
          <p:nvPr/>
        </p:nvSpPr>
        <p:spPr>
          <a:xfrm flipV="1">
            <a:off x="7759700" y="-5080"/>
            <a:ext cx="10546715" cy="119380"/>
          </a:xfrm>
          <a:prstGeom prst="rect">
            <a:avLst/>
          </a:prstGeom>
          <a:solidFill>
            <a:srgbClr val="D6001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latin typeface="Times New Roman" panose="02020603050405020304" charset="0"/>
              <a:cs typeface="Times New Roman" panose="02020603050405020304" charset="0"/>
            </a:endParaRPr>
          </a:p>
        </p:txBody>
      </p:sp>
      <p:sp>
        <p:nvSpPr>
          <p:cNvPr id="24" name="文本框 28">
            <a:extLst>
              <a:ext uri="{FF2B5EF4-FFF2-40B4-BE49-F238E27FC236}">
                <a16:creationId xmlns:a16="http://schemas.microsoft.com/office/drawing/2014/main" id="{04788AD3-CB56-4E01-BB22-355C18031AF7}"/>
              </a:ext>
            </a:extLst>
          </p:cNvPr>
          <p:cNvSpPr txBox="1"/>
          <p:nvPr/>
        </p:nvSpPr>
        <p:spPr>
          <a:xfrm>
            <a:off x="13033057" y="2936796"/>
            <a:ext cx="3845243" cy="645465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eaLnBrk="0" fontAlgn="base" hangingPunct="0">
              <a:lnSpc>
                <a:spcPct val="150000"/>
              </a:lnSpc>
              <a:buClrTx/>
              <a:buSzTx/>
              <a:buFontTx/>
            </a:pPr>
            <a:r>
              <a:rPr lang="zh-CN" sz="2800" dirty="0">
                <a:latin typeface="宋体" panose="02010600030101010101" pitchFamily="2" charset="-122"/>
              </a:rPr>
              <a:t>1、采用</a:t>
            </a:r>
            <a:r>
              <a:rPr lang="zh-CN" altLang="en-US" sz="2800" dirty="0">
                <a:solidFill>
                  <a:srgbClr val="000000"/>
                </a:solidFill>
                <a:latin typeface="等线" panose="02010600030101010101" pitchFamily="2" charset="-122"/>
                <a:ea typeface="等线" panose="02010600030101010101" pitchFamily="2" charset="-122"/>
                <a:cs typeface="Times New Roman" panose="02020603050405020304" pitchFamily="18" charset="0"/>
                <a:sym typeface="+mn-ea"/>
              </a:rPr>
              <a:t>多品种治具切换台，快速响应各品种的切换</a:t>
            </a:r>
            <a:r>
              <a:rPr lang="zh-CN" sz="2800" dirty="0">
                <a:latin typeface="宋体" panose="02010600030101010101" pitchFamily="2" charset="-122"/>
              </a:rPr>
              <a:t>；</a:t>
            </a:r>
          </a:p>
          <a:p>
            <a:pPr algn="l" eaLnBrk="0" fontAlgn="base" hangingPunct="0">
              <a:lnSpc>
                <a:spcPct val="150000"/>
              </a:lnSpc>
              <a:buClrTx/>
              <a:buSzTx/>
              <a:buFontTx/>
            </a:pPr>
            <a:r>
              <a:rPr lang="en-US" altLang="zh-CN" sz="2800" dirty="0">
                <a:latin typeface="宋体" panose="02010600030101010101" pitchFamily="2" charset="-122"/>
              </a:rPr>
              <a:t>2</a:t>
            </a:r>
            <a:r>
              <a:rPr lang="zh-CN" altLang="en-US" sz="2800" dirty="0">
                <a:latin typeface="宋体" panose="02010600030101010101" pitchFamily="2" charset="-122"/>
              </a:rPr>
              <a:t>、机械抓手经定制化仿形设计兼顾产品兼容性，适应多品种；</a:t>
            </a:r>
          </a:p>
          <a:p>
            <a:pPr algn="l" eaLnBrk="0" fontAlgn="base" hangingPunct="0">
              <a:lnSpc>
                <a:spcPct val="150000"/>
              </a:lnSpc>
              <a:buClrTx/>
              <a:buSzTx/>
              <a:buFontTx/>
            </a:pPr>
            <a:r>
              <a:rPr lang="en-US" altLang="zh-CN" sz="2800" dirty="0">
                <a:latin typeface="宋体" panose="02010600030101010101" pitchFamily="2" charset="-122"/>
              </a:rPr>
              <a:t>3</a:t>
            </a:r>
            <a:r>
              <a:rPr lang="zh-CN" altLang="en-US" sz="2800">
                <a:latin typeface="宋体" panose="02010600030101010101" pitchFamily="2" charset="-122"/>
              </a:rPr>
              <a:t>、与上料位检测相配合完成自动化升降抓取动作实现。</a:t>
            </a:r>
            <a:endParaRPr lang="zh-CN" sz="2800" dirty="0">
              <a:latin typeface="宋体" panose="02010600030101010101" pitchFamily="2" charset="-122"/>
            </a:endParaRPr>
          </a:p>
          <a:p>
            <a:pPr algn="l" eaLnBrk="0" fontAlgn="base" hangingPunct="0">
              <a:lnSpc>
                <a:spcPct val="150000"/>
              </a:lnSpc>
              <a:buClrTx/>
              <a:buSzTx/>
              <a:buFontTx/>
            </a:pPr>
            <a:endParaRPr lang="zh-CN" altLang="en-US" sz="2800" dirty="0">
              <a:latin typeface="宋体" panose="02010600030101010101" pitchFamily="2" charset="-122"/>
            </a:endParaRPr>
          </a:p>
        </p:txBody>
      </p:sp>
      <p:sp>
        <p:nvSpPr>
          <p:cNvPr id="25" name="圆角矩形标注 4">
            <a:extLst>
              <a:ext uri="{FF2B5EF4-FFF2-40B4-BE49-F238E27FC236}">
                <a16:creationId xmlns:a16="http://schemas.microsoft.com/office/drawing/2014/main" id="{EFA695A8-4C63-4F7E-BCB8-DFE673655D35}"/>
              </a:ext>
            </a:extLst>
          </p:cNvPr>
          <p:cNvSpPr>
            <a:spLocks noChangeArrowheads="1"/>
          </p:cNvSpPr>
          <p:nvPr/>
        </p:nvSpPr>
        <p:spPr bwMode="auto">
          <a:xfrm>
            <a:off x="8539053" y="8706766"/>
            <a:ext cx="1209894" cy="456062"/>
          </a:xfrm>
          <a:prstGeom prst="wedgeRoundRectCallout">
            <a:avLst>
              <a:gd name="adj1" fmla="val 45169"/>
              <a:gd name="adj2" fmla="val -379855"/>
              <a:gd name="adj3" fmla="val 16667"/>
            </a:avLst>
          </a:prstGeom>
          <a:noFill/>
          <a:ln w="12700">
            <a:solidFill>
              <a:srgbClr val="CD1523"/>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fontAlgn="base" hangingPunct="0">
              <a:spcBef>
                <a:spcPct val="0"/>
              </a:spcBef>
              <a:spcAft>
                <a:spcPct val="0"/>
              </a:spcAft>
            </a:pPr>
            <a:r>
              <a:rPr lang="zh-CN" altLang="en-US"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仿形兼容性抓手</a:t>
            </a:r>
            <a:endParaRPr lang="zh-CN" altLang="zh-CN" sz="16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p:txBody>
      </p:sp>
      <p:sp>
        <p:nvSpPr>
          <p:cNvPr id="26" name="圆角矩形标注 4">
            <a:extLst>
              <a:ext uri="{FF2B5EF4-FFF2-40B4-BE49-F238E27FC236}">
                <a16:creationId xmlns:a16="http://schemas.microsoft.com/office/drawing/2014/main" id="{412D8DCF-B122-4685-95B5-3F31CE05255D}"/>
              </a:ext>
            </a:extLst>
          </p:cNvPr>
          <p:cNvSpPr>
            <a:spLocks noChangeArrowheads="1"/>
          </p:cNvSpPr>
          <p:nvPr/>
        </p:nvSpPr>
        <p:spPr bwMode="auto">
          <a:xfrm>
            <a:off x="2290653" y="8593687"/>
            <a:ext cx="1209894" cy="456062"/>
          </a:xfrm>
          <a:prstGeom prst="wedgeRoundRectCallout">
            <a:avLst>
              <a:gd name="adj1" fmla="val 18734"/>
              <a:gd name="adj2" fmla="val -618708"/>
              <a:gd name="adj3" fmla="val 16667"/>
            </a:avLst>
          </a:prstGeom>
          <a:noFill/>
          <a:ln w="12700">
            <a:solidFill>
              <a:srgbClr val="CD1523"/>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fontAlgn="base" hangingPunct="0">
              <a:spcBef>
                <a:spcPct val="0"/>
              </a:spcBef>
              <a:spcAft>
                <a:spcPct val="0"/>
              </a:spcAft>
            </a:pPr>
            <a:r>
              <a:rPr lang="zh-CN" altLang="en-US"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产品翻转</a:t>
            </a:r>
            <a:r>
              <a:rPr lang="en-US" altLang="zh-CN"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lang="zh-CN" altLang="en-US"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移运机构</a:t>
            </a:r>
            <a:endParaRPr lang="zh-CN" altLang="zh-CN" sz="16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p:txBody>
      </p:sp>
      <p:sp>
        <p:nvSpPr>
          <p:cNvPr id="27" name="圆角矩形标注 4">
            <a:extLst>
              <a:ext uri="{FF2B5EF4-FFF2-40B4-BE49-F238E27FC236}">
                <a16:creationId xmlns:a16="http://schemas.microsoft.com/office/drawing/2014/main" id="{6CE02812-9C09-4531-A807-D373DE388D1F}"/>
              </a:ext>
            </a:extLst>
          </p:cNvPr>
          <p:cNvSpPr>
            <a:spLocks noChangeArrowheads="1"/>
          </p:cNvSpPr>
          <p:nvPr/>
        </p:nvSpPr>
        <p:spPr bwMode="auto">
          <a:xfrm>
            <a:off x="8287691" y="2831455"/>
            <a:ext cx="1209894" cy="456062"/>
          </a:xfrm>
          <a:prstGeom prst="wedgeRoundRectCallout">
            <a:avLst>
              <a:gd name="adj1" fmla="val 79955"/>
              <a:gd name="adj2" fmla="val 224312"/>
              <a:gd name="adj3" fmla="val 16667"/>
            </a:avLst>
          </a:prstGeom>
          <a:noFill/>
          <a:ln w="12700">
            <a:solidFill>
              <a:srgbClr val="CD1523"/>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0" fontAlgn="base" hangingPunct="0">
              <a:spcBef>
                <a:spcPct val="0"/>
              </a:spcBef>
              <a:spcAft>
                <a:spcPct val="0"/>
              </a:spcAft>
            </a:pPr>
            <a:r>
              <a:rPr lang="zh-CN" altLang="en-US" sz="1600" dirty="0">
                <a:solidFill>
                  <a:srgbClr val="000000"/>
                </a:solidFill>
                <a:latin typeface="等线" panose="02010600030101010101" pitchFamily="2" charset="-122"/>
                <a:ea typeface="等线" panose="02010600030101010101" pitchFamily="2" charset="-122"/>
                <a:cs typeface="Times New Roman" panose="02020603050405020304" pitchFamily="18" charset="0"/>
              </a:rPr>
              <a:t>快换机构</a:t>
            </a:r>
            <a:endParaRPr lang="zh-CN" altLang="zh-CN" sz="16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p:txBody>
      </p:sp>
      <p:cxnSp>
        <p:nvCxnSpPr>
          <p:cNvPr id="19" name="直接箭头连接符 18">
            <a:extLst>
              <a:ext uri="{FF2B5EF4-FFF2-40B4-BE49-F238E27FC236}">
                <a16:creationId xmlns:a16="http://schemas.microsoft.com/office/drawing/2014/main" id="{E17B5CD3-0CF2-47E6-AB66-7F54270F37FB}"/>
              </a:ext>
            </a:extLst>
          </p:cNvPr>
          <p:cNvCxnSpPr/>
          <p:nvPr/>
        </p:nvCxnSpPr>
        <p:spPr>
          <a:xfrm flipV="1">
            <a:off x="4343400" y="5517791"/>
            <a:ext cx="4267200" cy="540109"/>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999569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5ED0995E-B37E-407C-A915-0A520491C1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7330" y="275813"/>
            <a:ext cx="7048339" cy="4795413"/>
          </a:xfrm>
          <a:prstGeom prst="rect">
            <a:avLst/>
          </a:prstGeom>
        </p:spPr>
      </p:pic>
      <p:grpSp>
        <p:nvGrpSpPr>
          <p:cNvPr id="2" name="Group 2"/>
          <p:cNvGrpSpPr/>
          <p:nvPr/>
        </p:nvGrpSpPr>
        <p:grpSpPr>
          <a:xfrm>
            <a:off x="2743200" y="596265"/>
            <a:ext cx="6934200" cy="1362970"/>
            <a:chOff x="0" y="0"/>
            <a:chExt cx="5868000" cy="1279444"/>
          </a:xfrm>
          <a:solidFill>
            <a:srgbClr val="133970"/>
          </a:solidFill>
        </p:grpSpPr>
        <p:sp>
          <p:nvSpPr>
            <p:cNvPr id="3" name="Freeform 3"/>
            <p:cNvSpPr/>
            <p:nvPr/>
          </p:nvSpPr>
          <p:spPr>
            <a:xfrm>
              <a:off x="0" y="0"/>
              <a:ext cx="5868035" cy="1279398"/>
            </a:xfrm>
            <a:custGeom>
              <a:avLst/>
              <a:gdLst/>
              <a:ahLst/>
              <a:cxnLst/>
              <a:rect l="l" t="t" r="r" b="b"/>
              <a:pathLst>
                <a:path w="5868035" h="1279398">
                  <a:moveTo>
                    <a:pt x="0" y="0"/>
                  </a:moveTo>
                  <a:lnTo>
                    <a:pt x="5868035" y="0"/>
                  </a:lnTo>
                  <a:lnTo>
                    <a:pt x="5868035" y="1279398"/>
                  </a:lnTo>
                  <a:lnTo>
                    <a:pt x="0" y="1279398"/>
                  </a:lnTo>
                  <a:close/>
                </a:path>
              </a:pathLst>
            </a:custGeom>
            <a:grpFill/>
          </p:spPr>
          <p:txBody>
            <a:bodyPr/>
            <a:lstStyle/>
            <a:p>
              <a:endParaRPr lang="zh-CN" altLang="en-US" dirty="0">
                <a:latin typeface="Times New Roman" panose="02020603050405020304" charset="0"/>
                <a:cs typeface="Times New Roman" panose="02020603050405020304" charset="0"/>
              </a:endParaRPr>
            </a:p>
          </p:txBody>
        </p:sp>
      </p:grpSp>
      <p:sp>
        <p:nvSpPr>
          <p:cNvPr id="4" name="TextBox 4"/>
          <p:cNvSpPr txBox="1"/>
          <p:nvPr/>
        </p:nvSpPr>
        <p:spPr>
          <a:xfrm>
            <a:off x="2895599" y="800100"/>
            <a:ext cx="6781841" cy="589915"/>
          </a:xfrm>
          <a:prstGeom prst="rect">
            <a:avLst/>
          </a:prstGeom>
        </p:spPr>
        <p:txBody>
          <a:bodyPr wrap="square" lIns="0" tIns="0" rIns="0" bIns="0" rtlCol="0" anchor="t">
            <a:noAutofit/>
          </a:bodyPr>
          <a:lstStyle/>
          <a:p>
            <a:pPr>
              <a:lnSpc>
                <a:spcPts val="4320"/>
              </a:lnSpc>
            </a:pPr>
            <a:r>
              <a:rPr lang="zh-CN" altLang="en-US" sz="3600" spc="194" dirty="0">
                <a:solidFill>
                  <a:schemeClr val="bg1"/>
                </a:solidFill>
                <a:latin typeface="Times New Roman" panose="02020603050405020304" charset="0"/>
                <a:ea typeface="微软雅黑" panose="020B0503020204020204" charset="-122"/>
                <a:cs typeface="字由点字典黑 65J Bold" panose="00020600040101010101" charset="-122"/>
                <a:sym typeface="+mn-ea"/>
              </a:rPr>
              <a:t>整体方案</a:t>
            </a:r>
            <a:r>
              <a:rPr lang="en-US" altLang="zh-CN" sz="3600" spc="194" dirty="0">
                <a:solidFill>
                  <a:schemeClr val="bg1"/>
                </a:solidFill>
                <a:latin typeface="Times New Roman" panose="02020603050405020304" charset="0"/>
                <a:ea typeface="微软雅黑" panose="020B0503020204020204" charset="-122"/>
                <a:cs typeface="字由点字典黑 65J Bold" panose="00020600040101010101" charset="-122"/>
                <a:sym typeface="+mn-ea"/>
              </a:rPr>
              <a:t>-</a:t>
            </a:r>
            <a:r>
              <a:rPr lang="zh-CN" altLang="en-US" sz="3600" spc="194" dirty="0">
                <a:solidFill>
                  <a:schemeClr val="bg1"/>
                </a:solidFill>
                <a:latin typeface="Times New Roman" panose="02020603050405020304" charset="0"/>
                <a:ea typeface="微软雅黑" panose="020B0503020204020204" charset="-122"/>
                <a:cs typeface="字由点字典黑 65J Bold" panose="00020600040101010101" charset="-122"/>
                <a:sym typeface="+mn-ea"/>
              </a:rPr>
              <a:t>实际抓取力学分析模拟实验</a:t>
            </a:r>
          </a:p>
        </p:txBody>
      </p:sp>
      <p:grpSp>
        <p:nvGrpSpPr>
          <p:cNvPr id="33" name="Group 26"/>
          <p:cNvGrpSpPr/>
          <p:nvPr/>
        </p:nvGrpSpPr>
        <p:grpSpPr>
          <a:xfrm>
            <a:off x="0" y="1378974"/>
            <a:ext cx="2452685" cy="176473"/>
            <a:chOff x="0" y="0"/>
            <a:chExt cx="2364602" cy="170135"/>
          </a:xfrm>
          <a:solidFill>
            <a:srgbClr val="133970"/>
          </a:solidFill>
        </p:grpSpPr>
        <p:sp>
          <p:nvSpPr>
            <p:cNvPr id="34" name="Freeform 27"/>
            <p:cNvSpPr/>
            <p:nvPr/>
          </p:nvSpPr>
          <p:spPr>
            <a:xfrm>
              <a:off x="0" y="0"/>
              <a:ext cx="2364621" cy="170129"/>
            </a:xfrm>
            <a:custGeom>
              <a:avLst/>
              <a:gdLst/>
              <a:ahLst/>
              <a:cxnLst/>
              <a:rect l="l" t="t" r="r" b="b"/>
              <a:pathLst>
                <a:path w="2364621" h="170129">
                  <a:moveTo>
                    <a:pt x="0" y="0"/>
                  </a:moveTo>
                  <a:lnTo>
                    <a:pt x="2364621" y="0"/>
                  </a:lnTo>
                  <a:lnTo>
                    <a:pt x="2364621" y="170129"/>
                  </a:lnTo>
                  <a:lnTo>
                    <a:pt x="0" y="170129"/>
                  </a:lnTo>
                  <a:close/>
                </a:path>
              </a:pathLst>
            </a:custGeom>
            <a:grpFill/>
          </p:spPr>
        </p:sp>
      </p:grpSp>
      <p:sp>
        <p:nvSpPr>
          <p:cNvPr id="37" name="TextBox 35"/>
          <p:cNvSpPr txBox="1"/>
          <p:nvPr/>
        </p:nvSpPr>
        <p:spPr>
          <a:xfrm>
            <a:off x="970304" y="161962"/>
            <a:ext cx="1840527" cy="1661795"/>
          </a:xfrm>
          <a:prstGeom prst="rect">
            <a:avLst/>
          </a:prstGeom>
        </p:spPr>
        <p:txBody>
          <a:bodyPr lIns="0" tIns="0" rIns="0" bIns="0" rtlCol="0" anchor="t">
            <a:spAutoFit/>
          </a:bodyPr>
          <a:lstStyle/>
          <a:p>
            <a:pPr>
              <a:lnSpc>
                <a:spcPts val="12960"/>
              </a:lnSpc>
            </a:pPr>
            <a:r>
              <a:rPr lang="en-US" sz="10800" b="1" dirty="0">
                <a:solidFill>
                  <a:srgbClr val="000000"/>
                </a:solidFill>
                <a:latin typeface="Times New Roman" panose="02020603050405020304" charset="0"/>
                <a:ea typeface="Arimo Bold" panose="020B0704020202020204"/>
                <a:cs typeface="Times New Roman" panose="02020603050405020304" charset="0"/>
                <a:sym typeface="Arimo Bold" panose="020B0704020202020204"/>
              </a:rPr>
              <a:t>02</a:t>
            </a:r>
          </a:p>
        </p:txBody>
      </p:sp>
      <p:pic>
        <p:nvPicPr>
          <p:cNvPr id="5" name="图片 4" descr="资源 12xxxhdpi"/>
          <p:cNvPicPr>
            <a:picLocks noChangeAspect="1"/>
          </p:cNvPicPr>
          <p:nvPr/>
        </p:nvPicPr>
        <p:blipFill>
          <a:blip r:embed="rId3"/>
          <a:stretch>
            <a:fillRect/>
          </a:stretch>
        </p:blipFill>
        <p:spPr>
          <a:xfrm>
            <a:off x="16306800" y="114300"/>
            <a:ext cx="1841500" cy="467360"/>
          </a:xfrm>
          <a:prstGeom prst="rect">
            <a:avLst/>
          </a:prstGeom>
        </p:spPr>
      </p:pic>
      <p:sp>
        <p:nvSpPr>
          <p:cNvPr id="21" name="矩形 20"/>
          <p:cNvSpPr/>
          <p:nvPr/>
        </p:nvSpPr>
        <p:spPr>
          <a:xfrm>
            <a:off x="0" y="9898380"/>
            <a:ext cx="18288000" cy="380365"/>
          </a:xfrm>
          <a:prstGeom prst="rect">
            <a:avLst/>
          </a:prstGeom>
          <a:solidFill>
            <a:srgbClr val="114B82">
              <a:alpha val="78000"/>
            </a:srgb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latin typeface="Times New Roman" panose="02020603050405020304" charset="0"/>
              <a:cs typeface="Times New Roman" panose="02020603050405020304" charset="0"/>
            </a:endParaRPr>
          </a:p>
        </p:txBody>
      </p:sp>
      <p:sp>
        <p:nvSpPr>
          <p:cNvPr id="22" name="矩形 21"/>
          <p:cNvSpPr/>
          <p:nvPr/>
        </p:nvSpPr>
        <p:spPr>
          <a:xfrm flipV="1">
            <a:off x="7759700" y="-5080"/>
            <a:ext cx="10546715" cy="119380"/>
          </a:xfrm>
          <a:prstGeom prst="rect">
            <a:avLst/>
          </a:prstGeom>
          <a:solidFill>
            <a:srgbClr val="D6001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latin typeface="Times New Roman" panose="02020603050405020304" charset="0"/>
              <a:cs typeface="Times New Roman" panose="02020603050405020304" charset="0"/>
            </a:endParaRPr>
          </a:p>
        </p:txBody>
      </p:sp>
      <p:pic>
        <p:nvPicPr>
          <p:cNvPr id="7" name="图片 6">
            <a:extLst>
              <a:ext uri="{FF2B5EF4-FFF2-40B4-BE49-F238E27FC236}">
                <a16:creationId xmlns:a16="http://schemas.microsoft.com/office/drawing/2014/main" id="{106D9C9B-AFCA-45DE-B1F6-168422309F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01499" y="5251023"/>
            <a:ext cx="5266781" cy="4183461"/>
          </a:xfrm>
          <a:prstGeom prst="rect">
            <a:avLst/>
          </a:prstGeom>
        </p:spPr>
      </p:pic>
      <p:pic>
        <p:nvPicPr>
          <p:cNvPr id="9" name="图片 8">
            <a:extLst>
              <a:ext uri="{FF2B5EF4-FFF2-40B4-BE49-F238E27FC236}">
                <a16:creationId xmlns:a16="http://schemas.microsoft.com/office/drawing/2014/main" id="{12692333-31AC-4913-8769-1E8D936BDA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15200" y="5270759"/>
            <a:ext cx="4915908" cy="4411864"/>
          </a:xfrm>
          <a:prstGeom prst="rect">
            <a:avLst/>
          </a:prstGeom>
        </p:spPr>
      </p:pic>
      <p:pic>
        <p:nvPicPr>
          <p:cNvPr id="13" name="图片 12">
            <a:extLst>
              <a:ext uri="{FF2B5EF4-FFF2-40B4-BE49-F238E27FC236}">
                <a16:creationId xmlns:a16="http://schemas.microsoft.com/office/drawing/2014/main" id="{43721FEC-CFC8-4C7C-A05A-A9B29E9F426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26352" y="1959235"/>
            <a:ext cx="5623998" cy="4852899"/>
          </a:xfrm>
          <a:prstGeom prst="rect">
            <a:avLst/>
          </a:prstGeom>
        </p:spPr>
      </p:pic>
    </p:spTree>
    <p:extLst>
      <p:ext uri="{BB962C8B-B14F-4D97-AF65-F5344CB8AC3E}">
        <p14:creationId xmlns:p14="http://schemas.microsoft.com/office/powerpoint/2010/main" val="3994548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24" name="图片 23" descr="19390 [转换]-01"/>
          <p:cNvPicPr>
            <a:picLocks noChangeAspect="1"/>
          </p:cNvPicPr>
          <p:nvPr/>
        </p:nvPicPr>
        <p:blipFill>
          <a:blip r:embed="rId4"/>
          <a:srcRect t="5711" b="12688"/>
          <a:stretch>
            <a:fillRect/>
          </a:stretch>
        </p:blipFill>
        <p:spPr>
          <a:xfrm>
            <a:off x="0" y="0"/>
            <a:ext cx="18287048" cy="8473440"/>
          </a:xfrm>
          <a:prstGeom prst="rect">
            <a:avLst/>
          </a:prstGeom>
        </p:spPr>
      </p:pic>
      <p:sp>
        <p:nvSpPr>
          <p:cNvPr id="21" name="矩形 20"/>
          <p:cNvSpPr/>
          <p:nvPr/>
        </p:nvSpPr>
        <p:spPr>
          <a:xfrm>
            <a:off x="0" y="0"/>
            <a:ext cx="18307050" cy="8358188"/>
          </a:xfrm>
          <a:prstGeom prst="rect">
            <a:avLst/>
          </a:prstGeom>
          <a:solidFill>
            <a:srgbClr val="114B82">
              <a:alpha val="69000"/>
            </a:srgb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p>
        </p:txBody>
      </p:sp>
      <p:sp>
        <p:nvSpPr>
          <p:cNvPr id="8" name="文本框 7"/>
          <p:cNvSpPr txBox="1"/>
          <p:nvPr/>
        </p:nvSpPr>
        <p:spPr>
          <a:xfrm>
            <a:off x="5028883" y="3086100"/>
            <a:ext cx="14817090" cy="2214880"/>
          </a:xfrm>
          <a:prstGeom prst="rect">
            <a:avLst/>
          </a:prstGeom>
          <a:noFill/>
        </p:spPr>
        <p:txBody>
          <a:bodyPr wrap="square" rtlCol="0">
            <a:spAutoFit/>
          </a:bodyPr>
          <a:lstStyle/>
          <a:p>
            <a:pPr algn="l"/>
            <a:r>
              <a:rPr lang="en-US" altLang="zh-CN" sz="13800" kern="2000" dirty="0">
                <a:solidFill>
                  <a:schemeClr val="bg1"/>
                </a:solidFill>
                <a:uFillTx/>
                <a:latin typeface="微软雅黑" panose="020B0503020204020204" charset="-122"/>
                <a:ea typeface="微软雅黑" panose="020B0503020204020204" charset="-122"/>
                <a:cs typeface="黑体" panose="02010609060101010101" charset="-122"/>
              </a:rPr>
              <a:t>THANKS</a:t>
            </a:r>
          </a:p>
        </p:txBody>
      </p:sp>
      <p:sp>
        <p:nvSpPr>
          <p:cNvPr id="22" name="矩形 21"/>
          <p:cNvSpPr/>
          <p:nvPr/>
        </p:nvSpPr>
        <p:spPr>
          <a:xfrm>
            <a:off x="-108585" y="8358188"/>
            <a:ext cx="18491835" cy="114300"/>
          </a:xfrm>
          <a:prstGeom prst="rect">
            <a:avLst/>
          </a:prstGeom>
          <a:solidFill>
            <a:srgbClr val="D6001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p>
        </p:txBody>
      </p:sp>
      <p:sp>
        <p:nvSpPr>
          <p:cNvPr id="18" name="文本框 17"/>
          <p:cNvSpPr txBox="1"/>
          <p:nvPr/>
        </p:nvSpPr>
        <p:spPr>
          <a:xfrm>
            <a:off x="12918758" y="9064943"/>
            <a:ext cx="5368290" cy="737235"/>
          </a:xfrm>
          <a:prstGeom prst="rect">
            <a:avLst/>
          </a:prstGeom>
          <a:noFill/>
        </p:spPr>
        <p:txBody>
          <a:bodyPr wrap="square">
            <a:spAutoFit/>
          </a:bodyPr>
          <a:lstStyle/>
          <a:p>
            <a:r>
              <a:rPr kumimoji="0" lang="zh-CN" altLang="en-US" sz="4200" b="1" i="0" u="none" strike="noStrike" kern="1200" cap="none" spc="0" normalizeH="0" baseline="0" noProof="0" dirty="0">
                <a:ln>
                  <a:noFill/>
                </a:ln>
                <a:solidFill>
                  <a:srgbClr val="114B82"/>
                </a:solidFill>
                <a:effectLst/>
                <a:uLnTx/>
                <a:uFillTx/>
                <a:latin typeface="微软雅黑" panose="020B0503020204020204" charset="-122"/>
                <a:ea typeface="微软雅黑" panose="020B0503020204020204" charset="-122"/>
                <a:cs typeface="微软雅黑" panose="020B0503020204020204" charset="-122"/>
              </a:rPr>
              <a:t>披荆斩棘     逐光而行</a:t>
            </a:r>
          </a:p>
        </p:txBody>
      </p:sp>
      <p:pic>
        <p:nvPicPr>
          <p:cNvPr id="44" name="图片 43" descr="资源 2ldpi"/>
          <p:cNvPicPr>
            <a:picLocks noChangeAspect="1"/>
          </p:cNvPicPr>
          <p:nvPr/>
        </p:nvPicPr>
        <p:blipFill>
          <a:blip r:embed="rId5"/>
          <a:srcRect l="5628"/>
          <a:stretch>
            <a:fillRect/>
          </a:stretch>
        </p:blipFill>
        <p:spPr>
          <a:xfrm>
            <a:off x="317" y="5652135"/>
            <a:ext cx="18288318" cy="2693035"/>
          </a:xfrm>
          <a:prstGeom prst="rect">
            <a:avLst/>
          </a:prstGeom>
        </p:spPr>
      </p:pic>
      <p:pic>
        <p:nvPicPr>
          <p:cNvPr id="7" name="图片 6" descr="资源 11xxxhdpi"/>
          <p:cNvPicPr>
            <a:picLocks noChangeAspect="1"/>
          </p:cNvPicPr>
          <p:nvPr/>
        </p:nvPicPr>
        <p:blipFill>
          <a:blip r:embed="rId6"/>
          <a:stretch>
            <a:fillRect/>
          </a:stretch>
        </p:blipFill>
        <p:spPr>
          <a:xfrm>
            <a:off x="16279495" y="114300"/>
            <a:ext cx="1963420" cy="476885"/>
          </a:xfrm>
          <a:prstGeom prst="rect">
            <a:avLst/>
          </a:prstGeom>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Tg3YjJjZDI5MWQ3YjJiZGJiODljZGY3OWUyYmE2ZmI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8172</TotalTime>
  <Words>1401</Words>
  <Application>Microsoft Office PowerPoint</Application>
  <PresentationFormat>自定义</PresentationFormat>
  <Paragraphs>110</Paragraphs>
  <Slides>13</Slides>
  <Notes>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13</vt:i4>
      </vt:variant>
    </vt:vector>
  </HeadingPairs>
  <TitlesOfParts>
    <vt:vector size="22" baseType="lpstr">
      <vt:lpstr>黑体</vt:lpstr>
      <vt:lpstr>Arial</vt:lpstr>
      <vt:lpstr>微软雅黑</vt:lpstr>
      <vt:lpstr>Times New Roman</vt:lpstr>
      <vt:lpstr>宋体</vt:lpstr>
      <vt:lpstr>Nirmala UI Semilight</vt:lpstr>
      <vt:lpstr>Calibri</vt:lpstr>
      <vt:lpstr>等线</vt:lpstr>
      <vt:lpstr>Office Theme</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蓝白色高端风工作汇报总结述职汇报PPT模板演示文稿</dc:title>
  <dc:creator>hys</dc:creator>
  <cp:lastModifiedBy>人葭 陆</cp:lastModifiedBy>
  <cp:revision>411</cp:revision>
  <dcterms:created xsi:type="dcterms:W3CDTF">2006-08-16T00:00:00Z</dcterms:created>
  <dcterms:modified xsi:type="dcterms:W3CDTF">2026-04-17T07:01:58Z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77207E1ACEB94C0DA3A7D1E0E0B76C3D_13</vt:lpwstr>
  </property>
  <property fmtid="{D5CDD505-2E9C-101B-9397-08002B2CF9AE}" pid="3" name="KSOProductBuildVer">
    <vt:lpwstr>2052-11.8.2.12195</vt:lpwstr>
  </property>
</Properties>
</file>